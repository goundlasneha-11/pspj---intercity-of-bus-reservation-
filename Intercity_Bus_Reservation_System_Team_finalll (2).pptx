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42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o-grey"/>
          <p:cNvSpPr/>
          <p:nvPr/>
        </p:nvSpPr>
        <p:spPr>
          <a:xfrm>
            <a:off x="7437120" y="4114800"/>
            <a:ext cx="4754880" cy="2743200"/>
          </a:xfrm>
          <a:custGeom>
            <a:avLst/>
            <a:gdLst/>
            <a:ahLst/>
            <a:cxnLst/>
            <a:rect l="l" t="t" r="r" b="b"/>
            <a:pathLst>
              <a:path w="4754880" h="2743200">
                <a:moveTo>
                  <a:pt x="4754880" y="2743200"/>
                </a:moveTo>
                <a:lnTo>
                  <a:pt x="0" y="2743200"/>
                </a:lnTo>
                <a:lnTo>
                  <a:pt x="4754880" y="0"/>
                </a:lnTo>
                <a:close/>
              </a:path>
            </a:pathLst>
          </a:custGeom>
          <a:solidFill>
            <a:srgbClr val="B8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teal"/>
          <p:cNvSpPr/>
          <p:nvPr/>
        </p:nvSpPr>
        <p:spPr>
          <a:xfrm>
            <a:off x="8900160" y="4937760"/>
            <a:ext cx="3291840" cy="1920240"/>
          </a:xfrm>
          <a:custGeom>
            <a:avLst/>
            <a:gdLst/>
            <a:ahLst/>
            <a:cxnLst/>
            <a:rect l="l" t="t" r="r" b="b"/>
            <a:pathLst>
              <a:path w="3291840" h="1920240">
                <a:moveTo>
                  <a:pt x="3291840" y="1920240"/>
                </a:moveTo>
                <a:lnTo>
                  <a:pt x="0" y="1920240"/>
                </a:lnTo>
                <a:lnTo>
                  <a:pt x="3291840" y="0"/>
                </a:lnTo>
                <a:close/>
              </a:path>
            </a:pathLst>
          </a:custGeom>
          <a:solidFill>
            <a:srgbClr val="3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1188720"/>
            <a:ext cx="7315200" cy="1828800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FFFFFF"/>
                </a:solidFill>
              </a:rPr>
              <a:t>Intercity Bus Reservation System</a:t>
            </a:r>
            <a:br/>
            <a:r>
              <a:rPr sz="3000" b="1">
                <a:solidFill>
                  <a:srgbClr val="FFFFFF"/>
                </a:solidFill>
              </a:rPr>
              <a:t>Team No: 30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3200400"/>
            <a:ext cx="7315200" cy="1463040"/>
          </a:xfrm>
        </p:spPr>
        <p:txBody>
          <a:bodyPr wrap="square"/>
          <a:lstStyle/>
          <a:p>
            <a:pPr algn="l"/>
            <a:r>
              <a:rPr sz="2000" b="0">
                <a:solidFill>
                  <a:srgbClr val="DDE6EA"/>
                </a:solidFill>
              </a:rPr>
              <a:t>Student Name: G. Sneha    |    Roll No: 2620080111</a:t>
            </a:r>
            <a:br/>
            <a:r>
              <a:rPr sz="2000" b="0">
                <a:solidFill>
                  <a:srgbClr val="DDE6EA"/>
                </a:solidFill>
              </a:rPr>
              <a:t>Student Name: L. Akshitha    |    Roll No: 2620080026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400" b="0">
                <a:solidFill>
                  <a:srgbClr val="FFFFFF"/>
                </a:solidFill>
              </a:rPr>
              <a:t>15-10-2026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eco-grey"/>
          <p:cNvSpPr/>
          <p:nvPr/>
        </p:nvSpPr>
        <p:spPr>
          <a:xfrm>
            <a:off x="9083040" y="5303520"/>
            <a:ext cx="3108960" cy="1554480"/>
          </a:xfrm>
          <a:custGeom>
            <a:avLst/>
            <a:gdLst/>
            <a:ahLst/>
            <a:cxnLst/>
            <a:rect l="l" t="t" r="r" b="b"/>
            <a:pathLst>
              <a:path w="3108960" h="1554480">
                <a:moveTo>
                  <a:pt x="3108960" y="1554480"/>
                </a:moveTo>
                <a:lnTo>
                  <a:pt x="0" y="1554480"/>
                </a:lnTo>
                <a:lnTo>
                  <a:pt x="3108960" y="0"/>
                </a:lnTo>
                <a:close/>
              </a:path>
            </a:pathLst>
          </a:custGeom>
          <a:solidFill>
            <a:srgbClr val="B8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dark"/>
          <p:cNvSpPr/>
          <p:nvPr/>
        </p:nvSpPr>
        <p:spPr>
          <a:xfrm>
            <a:off x="9631680" y="5577840"/>
            <a:ext cx="2560320" cy="1280160"/>
          </a:xfrm>
          <a:custGeom>
            <a:avLst/>
            <a:gdLst/>
            <a:ahLst/>
            <a:cxnLst/>
            <a:rect l="l" t="t" r="r" b="b"/>
            <a:pathLst>
              <a:path w="2560320" h="1280160">
                <a:moveTo>
                  <a:pt x="2560320" y="1280160"/>
                </a:moveTo>
                <a:lnTo>
                  <a:pt x="0" y="1280160"/>
                </a:lnTo>
                <a:lnTo>
                  <a:pt x="2560320" y="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dark-top"/>
          <p:cNvSpPr/>
          <p:nvPr/>
        </p:nvSpPr>
        <p:spPr>
          <a:xfrm>
            <a:off x="9997440" y="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2194560" y="0"/>
                </a:moveTo>
                <a:lnTo>
                  <a:pt x="0" y="0"/>
                </a:lnTo>
                <a:lnTo>
                  <a:pt x="2194560" y="109728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-teal-top-right"/>
          <p:cNvSpPr/>
          <p:nvPr/>
        </p:nvSpPr>
        <p:spPr>
          <a:xfrm>
            <a:off x="11003280" y="0"/>
            <a:ext cx="1188720" cy="594360"/>
          </a:xfrm>
          <a:custGeom>
            <a:avLst/>
            <a:gdLst/>
            <a:ahLst/>
            <a:cxnLst/>
            <a:rect l="l" t="t" r="r" b="b"/>
            <a:pathLst>
              <a:path w="1188720" h="594360">
                <a:moveTo>
                  <a:pt x="1188720" y="0"/>
                </a:moveTo>
                <a:lnTo>
                  <a:pt x="0" y="0"/>
                </a:lnTo>
                <a:lnTo>
                  <a:pt x="1188720" y="594360"/>
                </a:lnTo>
                <a:close/>
              </a:path>
            </a:pathLst>
          </a:custGeom>
          <a:solidFill>
            <a:srgbClr val="3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68680"/>
            <a:ext cx="8503920" cy="7315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3E4256"/>
                </a:solidFill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9052560" cy="4069080"/>
          </a:xfrm>
        </p:spPr>
        <p:txBody>
          <a:bodyPr wrap="square" lIns="109728" tIns="73152" bIns="36576">
            <a:norm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303E"/>
                </a:solidFill>
              </a:defRPr>
            </a:pPr>
            <a:r>
              <a:rPr sz="1400">
                <a:solidFill>
                  <a:srgbClr val="3E4256"/>
                </a:solidFill>
              </a:rPr>
              <a:t>The Intercity Bus Reservation System is a Java-based application designed to simplify bus ticket reservation. It allows users to search for buses, choose a suitable route and travel date, view available seats, book a seat, and cancel an existing reservation. A seat map helps passengers identify available and booked seats and prevents double booking. The menu-driven system uses switch for menu options, if-else for seat availability, a for loop to display the seat map, and a while loop to continue until the user exits. The project demonstrates Java programming concepts in a real-world application and provides a basic, structured approach to intercity bus reservations.</a:t>
            </a:r>
            <a:endParaRPr lang="en-IN"/>
          </a:p>
          <a:p>
            <a:pPr>
              <a:spcAft>
                <a:spcPts val="1000"/>
              </a:spcAft>
              <a:defRPr sz="1900">
                <a:solidFill>
                  <a:srgbClr val="28303E"/>
                </a:solidFill>
              </a:defRPr>
            </a:pPr>
            <a:r>
              <a:rPr sz="1400">
                <a:solidFill>
                  <a:srgbClr val="3E4256"/>
                </a:solidFill>
              </a:rPr>
              <a:t>Project: Intercity Bus Reservation System</a:t>
            </a:r>
          </a:p>
          <a:p>
            <a:pPr>
              <a:spcAft>
                <a:spcPts val="1000"/>
              </a:spcAft>
              <a:defRPr sz="1900">
                <a:solidFill>
                  <a:srgbClr val="28303E"/>
                </a:solidFill>
              </a:defRPr>
            </a:pPr>
            <a:r>
              <a:rPr sz="1400">
                <a:solidFill>
                  <a:srgbClr val="3E4256"/>
                </a:solidFill>
              </a:rPr>
              <a:t>Subject: Problem Solving Using Programming (Java) | Academic Year: 2026–27</a:t>
            </a:r>
          </a:p>
          <a:p>
            <a:pPr>
              <a:spcAft>
                <a:spcPts val="1000"/>
              </a:spcAft>
              <a:defRPr sz="1900">
                <a:solidFill>
                  <a:srgbClr val="28303E"/>
                </a:solidFill>
              </a:defRPr>
            </a:pPr>
            <a:r>
              <a:rPr sz="1400">
                <a:solidFill>
                  <a:srgbClr val="3E4256"/>
                </a:solidFill>
              </a:rPr>
              <a:t>Department: FED | Faculty: Dr. Gopikrishna Vellaturi</a:t>
            </a:r>
          </a:p>
          <a:p>
            <a:pPr>
              <a:spcAft>
                <a:spcPts val="1000"/>
              </a:spcAft>
              <a:defRPr sz="1900">
                <a:solidFill>
                  <a:srgbClr val="28303E"/>
                </a:solidFill>
              </a:defRPr>
            </a:pPr>
            <a:r>
              <a:rPr sz="1400">
                <a:solidFill>
                  <a:srgbClr val="3E4256"/>
                </a:solidFill>
              </a:rPr>
              <a:t>Project Batch: KLH/PSPJAVA/Section-8/Batch-30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 b="0"/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eco-grey"/>
          <p:cNvSpPr/>
          <p:nvPr/>
        </p:nvSpPr>
        <p:spPr>
          <a:xfrm>
            <a:off x="9083040" y="5303520"/>
            <a:ext cx="3108960" cy="1554480"/>
          </a:xfrm>
          <a:custGeom>
            <a:avLst/>
            <a:gdLst/>
            <a:ahLst/>
            <a:cxnLst/>
            <a:rect l="l" t="t" r="r" b="b"/>
            <a:pathLst>
              <a:path w="3108960" h="1554480">
                <a:moveTo>
                  <a:pt x="3108960" y="1554480"/>
                </a:moveTo>
                <a:lnTo>
                  <a:pt x="0" y="1554480"/>
                </a:lnTo>
                <a:lnTo>
                  <a:pt x="3108960" y="0"/>
                </a:lnTo>
                <a:close/>
              </a:path>
            </a:pathLst>
          </a:custGeom>
          <a:solidFill>
            <a:srgbClr val="B8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dark"/>
          <p:cNvSpPr/>
          <p:nvPr/>
        </p:nvSpPr>
        <p:spPr>
          <a:xfrm>
            <a:off x="9631680" y="5577840"/>
            <a:ext cx="2560320" cy="1280160"/>
          </a:xfrm>
          <a:custGeom>
            <a:avLst/>
            <a:gdLst/>
            <a:ahLst/>
            <a:cxnLst/>
            <a:rect l="l" t="t" r="r" b="b"/>
            <a:pathLst>
              <a:path w="2560320" h="1280160">
                <a:moveTo>
                  <a:pt x="2560320" y="1280160"/>
                </a:moveTo>
                <a:lnTo>
                  <a:pt x="0" y="1280160"/>
                </a:lnTo>
                <a:lnTo>
                  <a:pt x="2560320" y="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dark-top"/>
          <p:cNvSpPr/>
          <p:nvPr/>
        </p:nvSpPr>
        <p:spPr>
          <a:xfrm>
            <a:off x="9997440" y="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2194560" y="0"/>
                </a:moveTo>
                <a:lnTo>
                  <a:pt x="0" y="0"/>
                </a:lnTo>
                <a:lnTo>
                  <a:pt x="2194560" y="109728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-teal-top-right"/>
          <p:cNvSpPr/>
          <p:nvPr/>
        </p:nvSpPr>
        <p:spPr>
          <a:xfrm>
            <a:off x="11003280" y="0"/>
            <a:ext cx="1188720" cy="594360"/>
          </a:xfrm>
          <a:custGeom>
            <a:avLst/>
            <a:gdLst/>
            <a:ahLst/>
            <a:cxnLst/>
            <a:rect l="l" t="t" r="r" b="b"/>
            <a:pathLst>
              <a:path w="1188720" h="594360">
                <a:moveTo>
                  <a:pt x="1188720" y="0"/>
                </a:moveTo>
                <a:lnTo>
                  <a:pt x="0" y="0"/>
                </a:lnTo>
                <a:lnTo>
                  <a:pt x="1188720" y="594360"/>
                </a:lnTo>
                <a:close/>
              </a:path>
            </a:pathLst>
          </a:custGeom>
          <a:solidFill>
            <a:srgbClr val="3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68680"/>
            <a:ext cx="8503920" cy="7315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3E4256"/>
                </a:solidFill>
              </a:rPr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9052560" cy="4069080"/>
          </a:xfrm>
        </p:spPr>
        <p:txBody>
          <a:bodyPr wrap="square" lIns="109728" tIns="73152" bIns="36576"/>
          <a:lstStyle/>
          <a:p>
            <a:pPr>
              <a:spcAft>
                <a:spcPts val="1000"/>
              </a:spcAft>
              <a:defRPr sz="19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Problem: Manual bus booking can make it difficult to check routes, track seat availability, and manage cancellations.</a:t>
            </a:r>
            <a:endParaRPr lang="en-IN"/>
          </a:p>
          <a:p>
            <a:pPr>
              <a:spcAft>
                <a:spcPts val="1000"/>
              </a:spcAft>
              <a:defRPr sz="19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Goal: Build a simple, menu-driven Java application for searching trips, viewing seats, booking and cancelling reservations.</a:t>
            </a:r>
          </a:p>
          <a:p>
            <a:pPr>
              <a:spcAft>
                <a:spcPts val="1000"/>
              </a:spcAft>
              <a:defRPr sz="19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Key requirements: prevent double booking; update seat status after booking/cancellation; show clear messages; allow repeated operations until Exit.</a:t>
            </a:r>
          </a:p>
          <a:p>
            <a:pPr>
              <a:spcAft>
                <a:spcPts val="1000"/>
              </a:spcAft>
              <a:defRPr sz="19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Expected result: a clear and organized reservation flow with saved booking records.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 b="0"/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eco-grey"/>
          <p:cNvSpPr/>
          <p:nvPr/>
        </p:nvSpPr>
        <p:spPr>
          <a:xfrm>
            <a:off x="9083040" y="5303520"/>
            <a:ext cx="3108960" cy="1554480"/>
          </a:xfrm>
          <a:custGeom>
            <a:avLst/>
            <a:gdLst/>
            <a:ahLst/>
            <a:cxnLst/>
            <a:rect l="l" t="t" r="r" b="b"/>
            <a:pathLst>
              <a:path w="3108960" h="1554480">
                <a:moveTo>
                  <a:pt x="3108960" y="1554480"/>
                </a:moveTo>
                <a:lnTo>
                  <a:pt x="0" y="1554480"/>
                </a:lnTo>
                <a:lnTo>
                  <a:pt x="3108960" y="0"/>
                </a:lnTo>
                <a:close/>
              </a:path>
            </a:pathLst>
          </a:custGeom>
          <a:solidFill>
            <a:srgbClr val="B8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dark"/>
          <p:cNvSpPr/>
          <p:nvPr/>
        </p:nvSpPr>
        <p:spPr>
          <a:xfrm>
            <a:off x="9631680" y="5577840"/>
            <a:ext cx="2560320" cy="1280160"/>
          </a:xfrm>
          <a:custGeom>
            <a:avLst/>
            <a:gdLst/>
            <a:ahLst/>
            <a:cxnLst/>
            <a:rect l="l" t="t" r="r" b="b"/>
            <a:pathLst>
              <a:path w="2560320" h="1280160">
                <a:moveTo>
                  <a:pt x="2560320" y="1280160"/>
                </a:moveTo>
                <a:lnTo>
                  <a:pt x="0" y="1280160"/>
                </a:lnTo>
                <a:lnTo>
                  <a:pt x="2560320" y="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dark-top"/>
          <p:cNvSpPr/>
          <p:nvPr/>
        </p:nvSpPr>
        <p:spPr>
          <a:xfrm>
            <a:off x="9997440" y="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2194560" y="0"/>
                </a:moveTo>
                <a:lnTo>
                  <a:pt x="0" y="0"/>
                </a:lnTo>
                <a:lnTo>
                  <a:pt x="2194560" y="109728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-teal-top-right"/>
          <p:cNvSpPr/>
          <p:nvPr/>
        </p:nvSpPr>
        <p:spPr>
          <a:xfrm>
            <a:off x="11003280" y="0"/>
            <a:ext cx="1188720" cy="594360"/>
          </a:xfrm>
          <a:custGeom>
            <a:avLst/>
            <a:gdLst/>
            <a:ahLst/>
            <a:cxnLst/>
            <a:rect l="l" t="t" r="r" b="b"/>
            <a:pathLst>
              <a:path w="1188720" h="594360">
                <a:moveTo>
                  <a:pt x="1188720" y="0"/>
                </a:moveTo>
                <a:lnTo>
                  <a:pt x="0" y="0"/>
                </a:lnTo>
                <a:lnTo>
                  <a:pt x="1188720" y="594360"/>
                </a:lnTo>
                <a:close/>
              </a:path>
            </a:pathLst>
          </a:custGeom>
          <a:solidFill>
            <a:srgbClr val="3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68680"/>
            <a:ext cx="8503920" cy="7315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3E4256"/>
                </a:solidFill>
              </a:rPr>
              <a:t>CO 1 — Java Foundations &amp; Problem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9052560" cy="4069080"/>
          </a:xfrm>
        </p:spPr>
        <p:txBody>
          <a:bodyPr wrap="square" lIns="109728" tIns="73152" bIns="36576"/>
          <a:lstStyle/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Algorithm and flowchart: define inputs, process and outputs before coding.</a:t>
            </a:r>
            <a:endParaRPr lang="en-IN"/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Variables and data types: represent passenger names, route names, seat numbers and booking status.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Scanner input and console output: accept menu choices and display booking details.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One-line link to project: Java foundations capture passenger choices and represent each trip and reservation.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 b="0"/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eco-grey"/>
          <p:cNvSpPr/>
          <p:nvPr/>
        </p:nvSpPr>
        <p:spPr>
          <a:xfrm>
            <a:off x="9083040" y="5303520"/>
            <a:ext cx="3108960" cy="1554480"/>
          </a:xfrm>
          <a:custGeom>
            <a:avLst/>
            <a:gdLst/>
            <a:ahLst/>
            <a:cxnLst/>
            <a:rect l="l" t="t" r="r" b="b"/>
            <a:pathLst>
              <a:path w="3108960" h="1554480">
                <a:moveTo>
                  <a:pt x="3108960" y="1554480"/>
                </a:moveTo>
                <a:lnTo>
                  <a:pt x="0" y="1554480"/>
                </a:lnTo>
                <a:lnTo>
                  <a:pt x="3108960" y="0"/>
                </a:lnTo>
                <a:close/>
              </a:path>
            </a:pathLst>
          </a:custGeom>
          <a:solidFill>
            <a:srgbClr val="B8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dark"/>
          <p:cNvSpPr/>
          <p:nvPr/>
        </p:nvSpPr>
        <p:spPr>
          <a:xfrm>
            <a:off x="9631680" y="5577840"/>
            <a:ext cx="2560320" cy="1280160"/>
          </a:xfrm>
          <a:custGeom>
            <a:avLst/>
            <a:gdLst/>
            <a:ahLst/>
            <a:cxnLst/>
            <a:rect l="l" t="t" r="r" b="b"/>
            <a:pathLst>
              <a:path w="2560320" h="1280160">
                <a:moveTo>
                  <a:pt x="2560320" y="1280160"/>
                </a:moveTo>
                <a:lnTo>
                  <a:pt x="0" y="1280160"/>
                </a:lnTo>
                <a:lnTo>
                  <a:pt x="2560320" y="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dark-top"/>
          <p:cNvSpPr/>
          <p:nvPr/>
        </p:nvSpPr>
        <p:spPr>
          <a:xfrm>
            <a:off x="9997440" y="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2194560" y="0"/>
                </a:moveTo>
                <a:lnTo>
                  <a:pt x="0" y="0"/>
                </a:lnTo>
                <a:lnTo>
                  <a:pt x="2194560" y="109728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-teal-top-right"/>
          <p:cNvSpPr/>
          <p:nvPr/>
        </p:nvSpPr>
        <p:spPr>
          <a:xfrm>
            <a:off x="11003280" y="0"/>
            <a:ext cx="1188720" cy="594360"/>
          </a:xfrm>
          <a:custGeom>
            <a:avLst/>
            <a:gdLst/>
            <a:ahLst/>
            <a:cxnLst/>
            <a:rect l="l" t="t" r="r" b="b"/>
            <a:pathLst>
              <a:path w="1188720" h="594360">
                <a:moveTo>
                  <a:pt x="1188720" y="0"/>
                </a:moveTo>
                <a:lnTo>
                  <a:pt x="0" y="0"/>
                </a:lnTo>
                <a:lnTo>
                  <a:pt x="1188720" y="594360"/>
                </a:lnTo>
                <a:close/>
              </a:path>
            </a:pathLst>
          </a:custGeom>
          <a:solidFill>
            <a:srgbClr val="3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68680"/>
            <a:ext cx="8503920" cy="7315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3E4256"/>
                </a:solidFill>
              </a:rPr>
              <a:t>CO 2 — Control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9052560" cy="4069080"/>
          </a:xfrm>
        </p:spPr>
        <p:txBody>
          <a:bodyPr wrap="square" lIns="109728" tIns="73152" bIns="36576"/>
          <a:lstStyle/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if–else: check whether a selected seat is available or already booked.</a:t>
            </a:r>
            <a:endParaRPr lang="en-IN"/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switch: select Search, View Seats, Book, Cancel or Exit from the main menu.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for loop: display all seats in the seat map.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while loop: repeat the menu until the user chooses Exit; break/continue can control menu flow.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One-line link to project: control statements guide the booking process and prevent invalid seat selection.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 b="0"/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eco-grey"/>
          <p:cNvSpPr/>
          <p:nvPr/>
        </p:nvSpPr>
        <p:spPr>
          <a:xfrm>
            <a:off x="9083040" y="5303520"/>
            <a:ext cx="3108960" cy="1554480"/>
          </a:xfrm>
          <a:custGeom>
            <a:avLst/>
            <a:gdLst/>
            <a:ahLst/>
            <a:cxnLst/>
            <a:rect l="l" t="t" r="r" b="b"/>
            <a:pathLst>
              <a:path w="3108960" h="1554480">
                <a:moveTo>
                  <a:pt x="3108960" y="1554480"/>
                </a:moveTo>
                <a:lnTo>
                  <a:pt x="0" y="1554480"/>
                </a:lnTo>
                <a:lnTo>
                  <a:pt x="3108960" y="0"/>
                </a:lnTo>
                <a:close/>
              </a:path>
            </a:pathLst>
          </a:custGeom>
          <a:solidFill>
            <a:srgbClr val="B8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dark"/>
          <p:cNvSpPr/>
          <p:nvPr/>
        </p:nvSpPr>
        <p:spPr>
          <a:xfrm>
            <a:off x="9631680" y="5577840"/>
            <a:ext cx="2560320" cy="1280160"/>
          </a:xfrm>
          <a:custGeom>
            <a:avLst/>
            <a:gdLst/>
            <a:ahLst/>
            <a:cxnLst/>
            <a:rect l="l" t="t" r="r" b="b"/>
            <a:pathLst>
              <a:path w="2560320" h="1280160">
                <a:moveTo>
                  <a:pt x="2560320" y="1280160"/>
                </a:moveTo>
                <a:lnTo>
                  <a:pt x="0" y="1280160"/>
                </a:lnTo>
                <a:lnTo>
                  <a:pt x="2560320" y="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dark-top"/>
          <p:cNvSpPr/>
          <p:nvPr/>
        </p:nvSpPr>
        <p:spPr>
          <a:xfrm>
            <a:off x="9997440" y="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2194560" y="0"/>
                </a:moveTo>
                <a:lnTo>
                  <a:pt x="0" y="0"/>
                </a:lnTo>
                <a:lnTo>
                  <a:pt x="2194560" y="109728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-teal-top-right"/>
          <p:cNvSpPr/>
          <p:nvPr/>
        </p:nvSpPr>
        <p:spPr>
          <a:xfrm>
            <a:off x="11003280" y="0"/>
            <a:ext cx="1188720" cy="594360"/>
          </a:xfrm>
          <a:custGeom>
            <a:avLst/>
            <a:gdLst/>
            <a:ahLst/>
            <a:cxnLst/>
            <a:rect l="l" t="t" r="r" b="b"/>
            <a:pathLst>
              <a:path w="1188720" h="594360">
                <a:moveTo>
                  <a:pt x="1188720" y="0"/>
                </a:moveTo>
                <a:lnTo>
                  <a:pt x="0" y="0"/>
                </a:lnTo>
                <a:lnTo>
                  <a:pt x="1188720" y="594360"/>
                </a:lnTo>
                <a:close/>
              </a:path>
            </a:pathLst>
          </a:custGeom>
          <a:solidFill>
            <a:srgbClr val="3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68680"/>
            <a:ext cx="8503920" cy="7315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3E4256"/>
                </a:solidFill>
              </a:rPr>
              <a:t>CO 3 — Recursion &amp;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9052560" cy="4069080"/>
          </a:xfrm>
        </p:spPr>
        <p:txBody>
          <a:bodyPr wrap="square" lIns="109728" tIns="73152" bIns="36576"/>
          <a:lstStyle/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1D arrays: store seat status for a bus trip using seat indices.</a:t>
            </a:r>
            <a:endParaRPr lang="en-IN"/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Array traversal: loop through seats to display availability and count booked seats.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2D arrays: represent seats as rows and columns when a visual seat layout is needed.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Recursion: a small recursive helper can demonstrate a recursive count/search, with a base case.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One-line link to project: arrays represent and update the seat map efficiently.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 b="0"/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eco-grey"/>
          <p:cNvSpPr/>
          <p:nvPr/>
        </p:nvSpPr>
        <p:spPr>
          <a:xfrm>
            <a:off x="9083040" y="5303520"/>
            <a:ext cx="3108960" cy="1554480"/>
          </a:xfrm>
          <a:custGeom>
            <a:avLst/>
            <a:gdLst/>
            <a:ahLst/>
            <a:cxnLst/>
            <a:rect l="l" t="t" r="r" b="b"/>
            <a:pathLst>
              <a:path w="3108960" h="1554480">
                <a:moveTo>
                  <a:pt x="3108960" y="1554480"/>
                </a:moveTo>
                <a:lnTo>
                  <a:pt x="0" y="1554480"/>
                </a:lnTo>
                <a:lnTo>
                  <a:pt x="3108960" y="0"/>
                </a:lnTo>
                <a:close/>
              </a:path>
            </a:pathLst>
          </a:custGeom>
          <a:solidFill>
            <a:srgbClr val="B8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dark"/>
          <p:cNvSpPr/>
          <p:nvPr/>
        </p:nvSpPr>
        <p:spPr>
          <a:xfrm>
            <a:off x="9631680" y="5577840"/>
            <a:ext cx="2560320" cy="1280160"/>
          </a:xfrm>
          <a:custGeom>
            <a:avLst/>
            <a:gdLst/>
            <a:ahLst/>
            <a:cxnLst/>
            <a:rect l="l" t="t" r="r" b="b"/>
            <a:pathLst>
              <a:path w="2560320" h="1280160">
                <a:moveTo>
                  <a:pt x="2560320" y="1280160"/>
                </a:moveTo>
                <a:lnTo>
                  <a:pt x="0" y="1280160"/>
                </a:lnTo>
                <a:lnTo>
                  <a:pt x="2560320" y="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dark-top"/>
          <p:cNvSpPr/>
          <p:nvPr/>
        </p:nvSpPr>
        <p:spPr>
          <a:xfrm>
            <a:off x="9997440" y="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2194560" y="0"/>
                </a:moveTo>
                <a:lnTo>
                  <a:pt x="0" y="0"/>
                </a:lnTo>
                <a:lnTo>
                  <a:pt x="2194560" y="109728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-teal-top-right"/>
          <p:cNvSpPr/>
          <p:nvPr/>
        </p:nvSpPr>
        <p:spPr>
          <a:xfrm>
            <a:off x="11003280" y="0"/>
            <a:ext cx="1188720" cy="594360"/>
          </a:xfrm>
          <a:custGeom>
            <a:avLst/>
            <a:gdLst/>
            <a:ahLst/>
            <a:cxnLst/>
            <a:rect l="l" t="t" r="r" b="b"/>
            <a:pathLst>
              <a:path w="1188720" h="594360">
                <a:moveTo>
                  <a:pt x="1188720" y="0"/>
                </a:moveTo>
                <a:lnTo>
                  <a:pt x="0" y="0"/>
                </a:lnTo>
                <a:lnTo>
                  <a:pt x="1188720" y="594360"/>
                </a:lnTo>
                <a:close/>
              </a:path>
            </a:pathLst>
          </a:custGeom>
          <a:solidFill>
            <a:srgbClr val="3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68680"/>
            <a:ext cx="8503920" cy="7315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3E4256"/>
                </a:solidFill>
              </a:rPr>
              <a:t>CO 4 — Inheritance &amp; 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9052560" cy="4069080"/>
          </a:xfrm>
        </p:spPr>
        <p:txBody>
          <a:bodyPr wrap="square" lIns="109728" tIns="73152" bIns="36576"/>
          <a:lstStyle/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Inheritance: a BusTrip class can extend a general Trip class and reuse route/date details.</a:t>
            </a:r>
            <a:endParaRPr lang="en-IN"/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Method overriding: a bus trip can provide its own trip-details display method.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Polymorphism: a Trip reference can call the overridden method on a BusTrip object.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Interfaces: a ReservationActions interface can define bookSeat() and cancelSeat() operations.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One-line link to project: OOP separates trip details from reservation behaviour and encourages code reuse.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 b="0"/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eco-grey"/>
          <p:cNvSpPr/>
          <p:nvPr/>
        </p:nvSpPr>
        <p:spPr>
          <a:xfrm>
            <a:off x="9083040" y="5303520"/>
            <a:ext cx="3108960" cy="1554480"/>
          </a:xfrm>
          <a:custGeom>
            <a:avLst/>
            <a:gdLst/>
            <a:ahLst/>
            <a:cxnLst/>
            <a:rect l="l" t="t" r="r" b="b"/>
            <a:pathLst>
              <a:path w="3108960" h="1554480">
                <a:moveTo>
                  <a:pt x="3108960" y="1554480"/>
                </a:moveTo>
                <a:lnTo>
                  <a:pt x="0" y="1554480"/>
                </a:lnTo>
                <a:lnTo>
                  <a:pt x="3108960" y="0"/>
                </a:lnTo>
                <a:close/>
              </a:path>
            </a:pathLst>
          </a:custGeom>
          <a:solidFill>
            <a:srgbClr val="B8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dark"/>
          <p:cNvSpPr/>
          <p:nvPr/>
        </p:nvSpPr>
        <p:spPr>
          <a:xfrm>
            <a:off x="9631680" y="5577840"/>
            <a:ext cx="2560320" cy="1280160"/>
          </a:xfrm>
          <a:custGeom>
            <a:avLst/>
            <a:gdLst/>
            <a:ahLst/>
            <a:cxnLst/>
            <a:rect l="l" t="t" r="r" b="b"/>
            <a:pathLst>
              <a:path w="2560320" h="1280160">
                <a:moveTo>
                  <a:pt x="2560320" y="1280160"/>
                </a:moveTo>
                <a:lnTo>
                  <a:pt x="0" y="1280160"/>
                </a:lnTo>
                <a:lnTo>
                  <a:pt x="2560320" y="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dark-top"/>
          <p:cNvSpPr/>
          <p:nvPr/>
        </p:nvSpPr>
        <p:spPr>
          <a:xfrm>
            <a:off x="9997440" y="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2194560" y="0"/>
                </a:moveTo>
                <a:lnTo>
                  <a:pt x="0" y="0"/>
                </a:lnTo>
                <a:lnTo>
                  <a:pt x="2194560" y="109728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-teal-top-right"/>
          <p:cNvSpPr/>
          <p:nvPr/>
        </p:nvSpPr>
        <p:spPr>
          <a:xfrm>
            <a:off x="11003280" y="0"/>
            <a:ext cx="1188720" cy="594360"/>
          </a:xfrm>
          <a:custGeom>
            <a:avLst/>
            <a:gdLst/>
            <a:ahLst/>
            <a:cxnLst/>
            <a:rect l="l" t="t" r="r" b="b"/>
            <a:pathLst>
              <a:path w="1188720" h="594360">
                <a:moveTo>
                  <a:pt x="1188720" y="0"/>
                </a:moveTo>
                <a:lnTo>
                  <a:pt x="0" y="0"/>
                </a:lnTo>
                <a:lnTo>
                  <a:pt x="1188720" y="594360"/>
                </a:lnTo>
                <a:close/>
              </a:path>
            </a:pathLst>
          </a:custGeom>
          <a:solidFill>
            <a:srgbClr val="3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68680"/>
            <a:ext cx="8503920" cy="7315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3E4256"/>
                </a:solidFill>
              </a:rPr>
              <a:t>CO 5 — Java File I/O (NIO.2)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9052560" cy="4069080"/>
          </a:xfrm>
        </p:spPr>
        <p:txBody>
          <a:bodyPr wrap="square" lIns="109728" tIns="73152" bIns="36576"/>
          <a:lstStyle/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Path and Files: identify and manage the reservation data file.</a:t>
            </a:r>
            <a:endParaRPr lang="en-IN"/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Files.writeString / Files.readString: save and reload booking records.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Append mode: add new reservation/cancellation records without replacing earlier records.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Exception handling: handle missing files and file-access errors safely.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One-line link to project: file handling keeps booking records available after the program closes.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 b="0"/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eco-grey"/>
          <p:cNvSpPr/>
          <p:nvPr/>
        </p:nvSpPr>
        <p:spPr>
          <a:xfrm>
            <a:off x="9083040" y="5303520"/>
            <a:ext cx="3108960" cy="1554480"/>
          </a:xfrm>
          <a:custGeom>
            <a:avLst/>
            <a:gdLst/>
            <a:ahLst/>
            <a:cxnLst/>
            <a:rect l="l" t="t" r="r" b="b"/>
            <a:pathLst>
              <a:path w="3108960" h="1554480">
                <a:moveTo>
                  <a:pt x="3108960" y="1554480"/>
                </a:moveTo>
                <a:lnTo>
                  <a:pt x="0" y="1554480"/>
                </a:lnTo>
                <a:lnTo>
                  <a:pt x="3108960" y="0"/>
                </a:lnTo>
                <a:close/>
              </a:path>
            </a:pathLst>
          </a:custGeom>
          <a:solidFill>
            <a:srgbClr val="B8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dark"/>
          <p:cNvSpPr/>
          <p:nvPr/>
        </p:nvSpPr>
        <p:spPr>
          <a:xfrm>
            <a:off x="9631680" y="5577840"/>
            <a:ext cx="2560320" cy="1280160"/>
          </a:xfrm>
          <a:custGeom>
            <a:avLst/>
            <a:gdLst/>
            <a:ahLst/>
            <a:cxnLst/>
            <a:rect l="l" t="t" r="r" b="b"/>
            <a:pathLst>
              <a:path w="2560320" h="1280160">
                <a:moveTo>
                  <a:pt x="2560320" y="1280160"/>
                </a:moveTo>
                <a:lnTo>
                  <a:pt x="0" y="1280160"/>
                </a:lnTo>
                <a:lnTo>
                  <a:pt x="2560320" y="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dark-top"/>
          <p:cNvSpPr/>
          <p:nvPr/>
        </p:nvSpPr>
        <p:spPr>
          <a:xfrm>
            <a:off x="9997440" y="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2194560" y="0"/>
                </a:moveTo>
                <a:lnTo>
                  <a:pt x="0" y="0"/>
                </a:lnTo>
                <a:lnTo>
                  <a:pt x="2194560" y="109728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-teal-top-right"/>
          <p:cNvSpPr/>
          <p:nvPr/>
        </p:nvSpPr>
        <p:spPr>
          <a:xfrm>
            <a:off x="11003280" y="0"/>
            <a:ext cx="1188720" cy="594360"/>
          </a:xfrm>
          <a:custGeom>
            <a:avLst/>
            <a:gdLst/>
            <a:ahLst/>
            <a:cxnLst/>
            <a:rect l="l" t="t" r="r" b="b"/>
            <a:pathLst>
              <a:path w="1188720" h="594360">
                <a:moveTo>
                  <a:pt x="1188720" y="0"/>
                </a:moveTo>
                <a:lnTo>
                  <a:pt x="0" y="0"/>
                </a:lnTo>
                <a:lnTo>
                  <a:pt x="1188720" y="594360"/>
                </a:lnTo>
                <a:close/>
              </a:path>
            </a:pathLst>
          </a:custGeom>
          <a:solidFill>
            <a:srgbClr val="3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68680"/>
            <a:ext cx="8503920" cy="7315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3E4256"/>
                </a:solidFill>
              </a:rPr>
              <a:t>CO 6 — Collections, Generics &amp;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9052560" cy="4069080"/>
          </a:xfrm>
        </p:spPr>
        <p:txBody>
          <a:bodyPr wrap="square" lIns="109728" tIns="73152" bIns="36576"/>
          <a:lstStyle/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ArrayList: keep a resizable list of trips or reservation records.</a:t>
            </a:r>
            <a:endParaRPr lang="en-IN"/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HashMap: map seat numbers to passenger/reservation details for quick lookup.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Generics: use typed collections such as List&lt;Reservation&gt; to reduce type errors.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Streams: filter and count booked reservations; collect results for a summary report.</a:t>
            </a:r>
          </a:p>
          <a:p>
            <a:pPr>
              <a:spcAft>
                <a:spcPts val="1000"/>
              </a:spcAft>
              <a:defRPr sz="18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One-line link to project: collections organize bookings, while streams help generate reservation summaries.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 b="0"/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eco-grey"/>
          <p:cNvSpPr/>
          <p:nvPr/>
        </p:nvSpPr>
        <p:spPr>
          <a:xfrm>
            <a:off x="9083040" y="5303520"/>
            <a:ext cx="3108960" cy="1554480"/>
          </a:xfrm>
          <a:custGeom>
            <a:avLst/>
            <a:gdLst/>
            <a:ahLst/>
            <a:cxnLst/>
            <a:rect l="l" t="t" r="r" b="b"/>
            <a:pathLst>
              <a:path w="3108960" h="1554480">
                <a:moveTo>
                  <a:pt x="3108960" y="1554480"/>
                </a:moveTo>
                <a:lnTo>
                  <a:pt x="0" y="1554480"/>
                </a:lnTo>
                <a:lnTo>
                  <a:pt x="3108960" y="0"/>
                </a:lnTo>
                <a:close/>
              </a:path>
            </a:pathLst>
          </a:custGeom>
          <a:solidFill>
            <a:srgbClr val="B8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dark"/>
          <p:cNvSpPr/>
          <p:nvPr/>
        </p:nvSpPr>
        <p:spPr>
          <a:xfrm>
            <a:off x="9631680" y="5577840"/>
            <a:ext cx="2560320" cy="1280160"/>
          </a:xfrm>
          <a:custGeom>
            <a:avLst/>
            <a:gdLst/>
            <a:ahLst/>
            <a:cxnLst/>
            <a:rect l="l" t="t" r="r" b="b"/>
            <a:pathLst>
              <a:path w="2560320" h="1280160">
                <a:moveTo>
                  <a:pt x="2560320" y="1280160"/>
                </a:moveTo>
                <a:lnTo>
                  <a:pt x="0" y="1280160"/>
                </a:lnTo>
                <a:lnTo>
                  <a:pt x="2560320" y="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dark-top"/>
          <p:cNvSpPr/>
          <p:nvPr/>
        </p:nvSpPr>
        <p:spPr>
          <a:xfrm>
            <a:off x="9997440" y="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2194560" y="0"/>
                </a:moveTo>
                <a:lnTo>
                  <a:pt x="0" y="0"/>
                </a:lnTo>
                <a:lnTo>
                  <a:pt x="2194560" y="109728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-teal-top-right"/>
          <p:cNvSpPr/>
          <p:nvPr/>
        </p:nvSpPr>
        <p:spPr>
          <a:xfrm>
            <a:off x="11003280" y="0"/>
            <a:ext cx="1188720" cy="594360"/>
          </a:xfrm>
          <a:custGeom>
            <a:avLst/>
            <a:gdLst/>
            <a:ahLst/>
            <a:cxnLst/>
            <a:rect l="l" t="t" r="r" b="b"/>
            <a:pathLst>
              <a:path w="1188720" h="594360">
                <a:moveTo>
                  <a:pt x="1188720" y="0"/>
                </a:moveTo>
                <a:lnTo>
                  <a:pt x="0" y="0"/>
                </a:lnTo>
                <a:lnTo>
                  <a:pt x="1188720" y="594360"/>
                </a:lnTo>
                <a:close/>
              </a:path>
            </a:pathLst>
          </a:custGeom>
          <a:solidFill>
            <a:srgbClr val="3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68680"/>
            <a:ext cx="8503920" cy="7315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3E4256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9052560" cy="4069080"/>
          </a:xfrm>
        </p:spPr>
        <p:txBody>
          <a:bodyPr wrap="square" lIns="109728" tIns="73152" bIns="36576"/>
          <a:lstStyle/>
          <a:p>
            <a:pPr>
              <a:spcAft>
                <a:spcPts val="1000"/>
              </a:spcAft>
              <a:defRPr sz="19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The project turns bus reservation steps into a simple menu-driven Java application.</a:t>
            </a:r>
            <a:endParaRPr lang="en-IN"/>
          </a:p>
          <a:p>
            <a:pPr>
              <a:spcAft>
                <a:spcPts val="1000"/>
              </a:spcAft>
              <a:defRPr sz="19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CO1 supports problem analysis, data types and user input; CO2 manages decisions and repeated operations.</a:t>
            </a:r>
          </a:p>
          <a:p>
            <a:pPr>
              <a:spcAft>
                <a:spcPts val="1000"/>
              </a:spcAft>
              <a:defRPr sz="19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CO3 represents seats with arrays; CO4 models trips and reservation actions using OOP.</a:t>
            </a:r>
          </a:p>
          <a:p>
            <a:pPr>
              <a:spcAft>
                <a:spcPts val="1000"/>
              </a:spcAft>
              <a:defRPr sz="19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CO5 saves and reloads reservation records; CO6 organizes records with collections and stream-based summaries.</a:t>
            </a:r>
          </a:p>
          <a:p>
            <a:pPr>
              <a:spcAft>
                <a:spcPts val="1000"/>
              </a:spcAft>
              <a:defRPr sz="1900">
                <a:solidFill>
                  <a:srgbClr val="28303E"/>
                </a:solidFill>
              </a:defRPr>
            </a:pPr>
            <a:r>
              <a:rPr>
                <a:solidFill>
                  <a:srgbClr val="3E4256"/>
                </a:solidFill>
              </a:rPr>
              <a:t>Overall, the project demonstrates how the six module areas can work together in one practical application.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 b="0"/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-grey"/>
          <p:cNvSpPr/>
          <p:nvPr/>
        </p:nvSpPr>
        <p:spPr>
          <a:xfrm>
            <a:off x="9083040" y="5303520"/>
            <a:ext cx="3108960" cy="1554480"/>
          </a:xfrm>
          <a:custGeom>
            <a:avLst/>
            <a:gdLst/>
            <a:ahLst/>
            <a:cxnLst/>
            <a:rect l="l" t="t" r="r" b="b"/>
            <a:pathLst>
              <a:path w="3108960" h="1554480">
                <a:moveTo>
                  <a:pt x="3108960" y="1554480"/>
                </a:moveTo>
                <a:lnTo>
                  <a:pt x="0" y="1554480"/>
                </a:lnTo>
                <a:lnTo>
                  <a:pt x="3108960" y="0"/>
                </a:lnTo>
                <a:close/>
              </a:path>
            </a:pathLst>
          </a:custGeom>
          <a:solidFill>
            <a:srgbClr val="B8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-dark"/>
          <p:cNvSpPr/>
          <p:nvPr/>
        </p:nvSpPr>
        <p:spPr>
          <a:xfrm>
            <a:off x="9631680" y="5577840"/>
            <a:ext cx="2560320" cy="1280160"/>
          </a:xfrm>
          <a:custGeom>
            <a:avLst/>
            <a:gdLst/>
            <a:ahLst/>
            <a:cxnLst/>
            <a:rect l="l" t="t" r="r" b="b"/>
            <a:pathLst>
              <a:path w="2560320" h="1280160">
                <a:moveTo>
                  <a:pt x="2560320" y="1280160"/>
                </a:moveTo>
                <a:lnTo>
                  <a:pt x="0" y="1280160"/>
                </a:lnTo>
                <a:lnTo>
                  <a:pt x="2560320" y="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dark-top"/>
          <p:cNvSpPr/>
          <p:nvPr/>
        </p:nvSpPr>
        <p:spPr>
          <a:xfrm>
            <a:off x="9997440" y="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2194560" y="0"/>
                </a:moveTo>
                <a:lnTo>
                  <a:pt x="0" y="0"/>
                </a:lnTo>
                <a:lnTo>
                  <a:pt x="2194560" y="109728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teal-top-right"/>
          <p:cNvSpPr/>
          <p:nvPr/>
        </p:nvSpPr>
        <p:spPr>
          <a:xfrm>
            <a:off x="11003280" y="0"/>
            <a:ext cx="1188720" cy="594360"/>
          </a:xfrm>
          <a:custGeom>
            <a:avLst/>
            <a:gdLst/>
            <a:ahLst/>
            <a:cxnLst/>
            <a:rect l="l" t="t" r="r" b="b"/>
            <a:pathLst>
              <a:path w="1188720" h="594360">
                <a:moveTo>
                  <a:pt x="1188720" y="0"/>
                </a:moveTo>
                <a:lnTo>
                  <a:pt x="0" y="0"/>
                </a:lnTo>
                <a:lnTo>
                  <a:pt x="1188720" y="594360"/>
                </a:lnTo>
                <a:close/>
              </a:path>
            </a:pathLst>
          </a:custGeom>
          <a:solidFill>
            <a:srgbClr val="3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68680"/>
            <a:ext cx="8503920" cy="7315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3E4256"/>
                </a:solidFill>
              </a:rPr>
              <a:t>Screenshots — Source Code (1/3)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 b="0"/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9" name="Picture 8" descr="co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394960" cy="4046220"/>
          </a:xfrm>
          <a:prstGeom prst="rect">
            <a:avLst/>
          </a:prstGeom>
        </p:spPr>
      </p:pic>
      <p:pic>
        <p:nvPicPr>
          <p:cNvPr id="10" name="Picture 9" descr="cod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5394960" cy="404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deco-grey"/>
          <p:cNvSpPr/>
          <p:nvPr/>
        </p:nvSpPr>
        <p:spPr>
          <a:xfrm>
            <a:off x="9083040" y="5303520"/>
            <a:ext cx="3108960" cy="1554480"/>
          </a:xfrm>
          <a:custGeom>
            <a:avLst/>
            <a:gdLst/>
            <a:ahLst/>
            <a:cxnLst/>
            <a:rect l="l" t="t" r="r" b="b"/>
            <a:pathLst>
              <a:path w="3108960" h="1554480">
                <a:moveTo>
                  <a:pt x="3108960" y="1554480"/>
                </a:moveTo>
                <a:lnTo>
                  <a:pt x="0" y="1554480"/>
                </a:lnTo>
                <a:lnTo>
                  <a:pt x="3108960" y="0"/>
                </a:lnTo>
                <a:close/>
              </a:path>
            </a:pathLst>
          </a:custGeom>
          <a:solidFill>
            <a:srgbClr val="B8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-dark"/>
          <p:cNvSpPr/>
          <p:nvPr/>
        </p:nvSpPr>
        <p:spPr>
          <a:xfrm>
            <a:off x="9631680" y="5577840"/>
            <a:ext cx="2560320" cy="1280160"/>
          </a:xfrm>
          <a:custGeom>
            <a:avLst/>
            <a:gdLst/>
            <a:ahLst/>
            <a:cxnLst/>
            <a:rect l="l" t="t" r="r" b="b"/>
            <a:pathLst>
              <a:path w="2560320" h="1280160">
                <a:moveTo>
                  <a:pt x="2560320" y="1280160"/>
                </a:moveTo>
                <a:lnTo>
                  <a:pt x="0" y="1280160"/>
                </a:lnTo>
                <a:lnTo>
                  <a:pt x="2560320" y="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dark-top"/>
          <p:cNvSpPr/>
          <p:nvPr/>
        </p:nvSpPr>
        <p:spPr>
          <a:xfrm>
            <a:off x="9997440" y="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2194560" y="0"/>
                </a:moveTo>
                <a:lnTo>
                  <a:pt x="0" y="0"/>
                </a:lnTo>
                <a:lnTo>
                  <a:pt x="2194560" y="109728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teal-top-right"/>
          <p:cNvSpPr/>
          <p:nvPr/>
        </p:nvSpPr>
        <p:spPr>
          <a:xfrm>
            <a:off x="11003280" y="0"/>
            <a:ext cx="1188720" cy="594360"/>
          </a:xfrm>
          <a:custGeom>
            <a:avLst/>
            <a:gdLst/>
            <a:ahLst/>
            <a:cxnLst/>
            <a:rect l="l" t="t" r="r" b="b"/>
            <a:pathLst>
              <a:path w="1188720" h="594360">
                <a:moveTo>
                  <a:pt x="1188720" y="0"/>
                </a:moveTo>
                <a:lnTo>
                  <a:pt x="0" y="0"/>
                </a:lnTo>
                <a:lnTo>
                  <a:pt x="1188720" y="594360"/>
                </a:lnTo>
                <a:close/>
              </a:path>
            </a:pathLst>
          </a:custGeom>
          <a:solidFill>
            <a:srgbClr val="3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68680"/>
            <a:ext cx="8503920" cy="7315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3E4256"/>
                </a:solidFill>
              </a:rPr>
              <a:t>Screenshots — Source Code (2/3)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 b="0"/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9" name="Picture 8" descr="co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394960" cy="4046220"/>
          </a:xfrm>
          <a:prstGeom prst="rect">
            <a:avLst/>
          </a:prstGeom>
        </p:spPr>
      </p:pic>
      <p:pic>
        <p:nvPicPr>
          <p:cNvPr id="10" name="Picture 9" descr="cod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5394960" cy="40462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deco-grey"/>
          <p:cNvSpPr/>
          <p:nvPr/>
        </p:nvSpPr>
        <p:spPr>
          <a:xfrm>
            <a:off x="9083040" y="5303520"/>
            <a:ext cx="3108960" cy="1554480"/>
          </a:xfrm>
          <a:custGeom>
            <a:avLst/>
            <a:gdLst/>
            <a:ahLst/>
            <a:cxnLst/>
            <a:rect l="l" t="t" r="r" b="b"/>
            <a:pathLst>
              <a:path w="3108960" h="1554480">
                <a:moveTo>
                  <a:pt x="3108960" y="1554480"/>
                </a:moveTo>
                <a:lnTo>
                  <a:pt x="0" y="1554480"/>
                </a:lnTo>
                <a:lnTo>
                  <a:pt x="3108960" y="0"/>
                </a:lnTo>
                <a:close/>
              </a:path>
            </a:pathLst>
          </a:custGeom>
          <a:solidFill>
            <a:srgbClr val="B8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-dark"/>
          <p:cNvSpPr/>
          <p:nvPr/>
        </p:nvSpPr>
        <p:spPr>
          <a:xfrm>
            <a:off x="9631680" y="5577840"/>
            <a:ext cx="2560320" cy="1280160"/>
          </a:xfrm>
          <a:custGeom>
            <a:avLst/>
            <a:gdLst/>
            <a:ahLst/>
            <a:cxnLst/>
            <a:rect l="l" t="t" r="r" b="b"/>
            <a:pathLst>
              <a:path w="2560320" h="1280160">
                <a:moveTo>
                  <a:pt x="2560320" y="1280160"/>
                </a:moveTo>
                <a:lnTo>
                  <a:pt x="0" y="1280160"/>
                </a:lnTo>
                <a:lnTo>
                  <a:pt x="2560320" y="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dark-top"/>
          <p:cNvSpPr/>
          <p:nvPr/>
        </p:nvSpPr>
        <p:spPr>
          <a:xfrm>
            <a:off x="9997440" y="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2194560" y="0"/>
                </a:moveTo>
                <a:lnTo>
                  <a:pt x="0" y="0"/>
                </a:lnTo>
                <a:lnTo>
                  <a:pt x="2194560" y="109728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teal-top-right"/>
          <p:cNvSpPr/>
          <p:nvPr/>
        </p:nvSpPr>
        <p:spPr>
          <a:xfrm>
            <a:off x="11003280" y="0"/>
            <a:ext cx="1188720" cy="594360"/>
          </a:xfrm>
          <a:custGeom>
            <a:avLst/>
            <a:gdLst/>
            <a:ahLst/>
            <a:cxnLst/>
            <a:rect l="l" t="t" r="r" b="b"/>
            <a:pathLst>
              <a:path w="1188720" h="594360">
                <a:moveTo>
                  <a:pt x="1188720" y="0"/>
                </a:moveTo>
                <a:lnTo>
                  <a:pt x="0" y="0"/>
                </a:lnTo>
                <a:lnTo>
                  <a:pt x="1188720" y="594360"/>
                </a:lnTo>
                <a:close/>
              </a:path>
            </a:pathLst>
          </a:custGeom>
          <a:solidFill>
            <a:srgbClr val="3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68680"/>
            <a:ext cx="8503920" cy="7315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3E4256"/>
                </a:solidFill>
              </a:rPr>
              <a:t>Screenshots — Source Code (3/3)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 b="0"/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9" name="Picture 8" descr="co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394960" cy="4046220"/>
          </a:xfrm>
          <a:prstGeom prst="rect">
            <a:avLst/>
          </a:prstGeom>
        </p:spPr>
      </p:pic>
      <p:pic>
        <p:nvPicPr>
          <p:cNvPr id="10" name="Picture 9" descr="cod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5394960" cy="40462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deco-grey"/>
          <p:cNvSpPr/>
          <p:nvPr/>
        </p:nvSpPr>
        <p:spPr>
          <a:xfrm>
            <a:off x="9083040" y="5303520"/>
            <a:ext cx="3108960" cy="1554480"/>
          </a:xfrm>
          <a:custGeom>
            <a:avLst/>
            <a:gdLst/>
            <a:ahLst/>
            <a:cxnLst/>
            <a:rect l="l" t="t" r="r" b="b"/>
            <a:pathLst>
              <a:path w="3108960" h="1554480">
                <a:moveTo>
                  <a:pt x="3108960" y="1554480"/>
                </a:moveTo>
                <a:lnTo>
                  <a:pt x="0" y="1554480"/>
                </a:lnTo>
                <a:lnTo>
                  <a:pt x="3108960" y="0"/>
                </a:lnTo>
                <a:close/>
              </a:path>
            </a:pathLst>
          </a:custGeom>
          <a:solidFill>
            <a:srgbClr val="B8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-dark"/>
          <p:cNvSpPr/>
          <p:nvPr/>
        </p:nvSpPr>
        <p:spPr>
          <a:xfrm>
            <a:off x="9631680" y="5577840"/>
            <a:ext cx="2560320" cy="1280160"/>
          </a:xfrm>
          <a:custGeom>
            <a:avLst/>
            <a:gdLst/>
            <a:ahLst/>
            <a:cxnLst/>
            <a:rect l="l" t="t" r="r" b="b"/>
            <a:pathLst>
              <a:path w="2560320" h="1280160">
                <a:moveTo>
                  <a:pt x="2560320" y="1280160"/>
                </a:moveTo>
                <a:lnTo>
                  <a:pt x="0" y="1280160"/>
                </a:lnTo>
                <a:lnTo>
                  <a:pt x="2560320" y="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dark-top"/>
          <p:cNvSpPr/>
          <p:nvPr/>
        </p:nvSpPr>
        <p:spPr>
          <a:xfrm>
            <a:off x="9997440" y="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2194560" y="0"/>
                </a:moveTo>
                <a:lnTo>
                  <a:pt x="0" y="0"/>
                </a:lnTo>
                <a:lnTo>
                  <a:pt x="2194560" y="109728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teal-top-right"/>
          <p:cNvSpPr/>
          <p:nvPr/>
        </p:nvSpPr>
        <p:spPr>
          <a:xfrm>
            <a:off x="11003280" y="0"/>
            <a:ext cx="1188720" cy="594360"/>
          </a:xfrm>
          <a:custGeom>
            <a:avLst/>
            <a:gdLst/>
            <a:ahLst/>
            <a:cxnLst/>
            <a:rect l="l" t="t" r="r" b="b"/>
            <a:pathLst>
              <a:path w="1188720" h="594360">
                <a:moveTo>
                  <a:pt x="1188720" y="0"/>
                </a:moveTo>
                <a:lnTo>
                  <a:pt x="0" y="0"/>
                </a:lnTo>
                <a:lnTo>
                  <a:pt x="1188720" y="594360"/>
                </a:lnTo>
                <a:close/>
              </a:path>
            </a:pathLst>
          </a:custGeom>
          <a:solidFill>
            <a:srgbClr val="3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68680"/>
            <a:ext cx="8503920" cy="7315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3E4256"/>
                </a:solidFill>
              </a:rPr>
              <a:t>Screenshots — Program Output (1/2)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 b="0"/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9" name="Picture 8" descr="ou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331" y="1600200"/>
            <a:ext cx="4373675" cy="4069080"/>
          </a:xfrm>
          <a:prstGeom prst="rect">
            <a:avLst/>
          </a:prstGeom>
        </p:spPr>
      </p:pic>
      <p:pic>
        <p:nvPicPr>
          <p:cNvPr id="10" name="Picture 9" descr="ou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206" y="1600200"/>
            <a:ext cx="3932156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deco-grey"/>
          <p:cNvSpPr/>
          <p:nvPr/>
        </p:nvSpPr>
        <p:spPr>
          <a:xfrm>
            <a:off x="9083040" y="5303520"/>
            <a:ext cx="3108960" cy="1554480"/>
          </a:xfrm>
          <a:custGeom>
            <a:avLst/>
            <a:gdLst/>
            <a:ahLst/>
            <a:cxnLst/>
            <a:rect l="l" t="t" r="r" b="b"/>
            <a:pathLst>
              <a:path w="3108960" h="1554480">
                <a:moveTo>
                  <a:pt x="3108960" y="1554480"/>
                </a:moveTo>
                <a:lnTo>
                  <a:pt x="0" y="1554480"/>
                </a:lnTo>
                <a:lnTo>
                  <a:pt x="3108960" y="0"/>
                </a:lnTo>
                <a:close/>
              </a:path>
            </a:pathLst>
          </a:custGeom>
          <a:solidFill>
            <a:srgbClr val="B8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-dark"/>
          <p:cNvSpPr/>
          <p:nvPr/>
        </p:nvSpPr>
        <p:spPr>
          <a:xfrm>
            <a:off x="9631680" y="5577840"/>
            <a:ext cx="2560320" cy="1280160"/>
          </a:xfrm>
          <a:custGeom>
            <a:avLst/>
            <a:gdLst/>
            <a:ahLst/>
            <a:cxnLst/>
            <a:rect l="l" t="t" r="r" b="b"/>
            <a:pathLst>
              <a:path w="2560320" h="1280160">
                <a:moveTo>
                  <a:pt x="2560320" y="1280160"/>
                </a:moveTo>
                <a:lnTo>
                  <a:pt x="0" y="1280160"/>
                </a:lnTo>
                <a:lnTo>
                  <a:pt x="2560320" y="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dark-top"/>
          <p:cNvSpPr/>
          <p:nvPr/>
        </p:nvSpPr>
        <p:spPr>
          <a:xfrm>
            <a:off x="9997440" y="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2194560" y="0"/>
                </a:moveTo>
                <a:lnTo>
                  <a:pt x="0" y="0"/>
                </a:lnTo>
                <a:lnTo>
                  <a:pt x="2194560" y="1097280"/>
                </a:lnTo>
                <a:close/>
              </a:path>
            </a:pathLst>
          </a:custGeom>
          <a:solidFill>
            <a:srgbClr val="3E4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teal-top-right"/>
          <p:cNvSpPr/>
          <p:nvPr/>
        </p:nvSpPr>
        <p:spPr>
          <a:xfrm>
            <a:off x="11003280" y="0"/>
            <a:ext cx="1188720" cy="594360"/>
          </a:xfrm>
          <a:custGeom>
            <a:avLst/>
            <a:gdLst/>
            <a:ahLst/>
            <a:cxnLst/>
            <a:rect l="l" t="t" r="r" b="b"/>
            <a:pathLst>
              <a:path w="1188720" h="594360">
                <a:moveTo>
                  <a:pt x="1188720" y="0"/>
                </a:moveTo>
                <a:lnTo>
                  <a:pt x="0" y="0"/>
                </a:lnTo>
                <a:lnTo>
                  <a:pt x="1188720" y="594360"/>
                </a:lnTo>
                <a:close/>
              </a:path>
            </a:pathLst>
          </a:custGeom>
          <a:solidFill>
            <a:srgbClr val="3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68680"/>
            <a:ext cx="8503920" cy="7315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3E4256"/>
                </a:solidFill>
              </a:rPr>
              <a:t>Screenshots — Program Output (2/2)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 b="0"/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9" name="Picture 8" descr="ou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600200"/>
            <a:ext cx="4572000" cy="3775982"/>
          </a:xfrm>
          <a:prstGeom prst="rect">
            <a:avLst/>
          </a:prstGeom>
        </p:spPr>
      </p:pic>
      <p:pic>
        <p:nvPicPr>
          <p:cNvPr id="10" name="Picture 9" descr="out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600200"/>
            <a:ext cx="4572000" cy="3457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