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4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2" r:id="rId6"/>
    <p:sldId id="264" r:id="rId7"/>
    <p:sldId id="265" r:id="rId8"/>
    <p:sldId id="266" r:id="rId9"/>
    <p:sldId id="267" r:id="rId10"/>
    <p:sldId id="268" r:id="rId11"/>
    <p:sldId id="269" r:id="rId12"/>
    <p:sldId id="271" r:id="rId13"/>
    <p:sldId id="273" r:id="rId14"/>
    <p:sldId id="274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  <Relationship Id="rId20" Type="http://schemas.openxmlformats.org/officeDocument/2006/relationships/slide" Target="slides/slide14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67845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-1097280"/>
            <a:ext cx="4572000" cy="4572000"/>
          </a:xfrm>
          <a:prstGeom prst="ellipse">
            <a:avLst/>
          </a:prstGeom>
          <a:solidFill>
            <a:srgbClr val="F5A623">
              <a:alpha val="1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INTERCITY BUS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RESERVATION SYSTEM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860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Console Application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0040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</a:t>
            </a:r>
            <a:endParaRPr lang="en-US" sz="17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7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G. Sneha  –  Roll No: 2620080111</a:t>
            </a:r>
            <a:endParaRPr lang="en-US" sz="17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7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L. Akshitha  –  Roll No: 2620080026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0" cy="54864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1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777240" y="118872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Intercity bus travel needs a quick and reliable way to book seats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075688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777240" y="2075688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Java program simulates a bus reservation system through a menu-driven console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962656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777240" y="2962656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search a bus, select route and date, book, cancel and view seats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849624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777240" y="3849624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bus: Express Travels, Hyderabad to Vijayawada, 10 seats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0" cy="54864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1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 &amp; Existing System</a:t>
            </a:r>
            <a:endParaRPr lang="en-US" sz="2600" dirty="0"/>
          </a:p>
        </p:txBody>
      </p:sp>
      <p:sp>
        <p:nvSpPr>
          <p:cNvPr id="5" name="Section pill"/>
          <p:cNvSpPr/>
          <p:nvPr/>
        </p:nvSpPr>
        <p:spPr>
          <a:xfrm>
            <a:off x="457200" y="1143000"/>
            <a:ext cx="2752344" cy="36576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"/>
          <p:cNvSpPr txBox="1"/>
          <p:nvPr/>
        </p:nvSpPr>
        <p:spPr>
          <a:xfrm>
            <a:off x="457200" y="1143000"/>
            <a:ext cx="275234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1B1B2F"/>
                </a:solidFill>
                <a:latin typeface="Trebuchet MS"/>
              </a:rPr>
              <a:t>Problem Statement</a:t>
            </a:r>
          </a:p>
        </p:txBody>
      </p:sp>
      <p:sp>
        <p:nvSpPr>
          <p:cNvPr id="7" name="Card"/>
          <p:cNvSpPr/>
          <p:nvPr/>
        </p:nvSpPr>
        <p:spPr>
          <a:xfrm>
            <a:off x="457200" y="1645920"/>
            <a:ext cx="3931920" cy="65836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"/>
          <p:cNvSpPr txBox="1"/>
          <p:nvPr/>
        </p:nvSpPr>
        <p:spPr>
          <a:xfrm>
            <a:off x="640080" y="1645920"/>
            <a:ext cx="3566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2B2D42"/>
                </a:solidFill>
                <a:latin typeface="Calibri"/>
              </a:rPr>
              <a:t>Manual booking at counters is slow and needs long queues</a:t>
            </a:r>
          </a:p>
        </p:txBody>
      </p:sp>
      <p:sp>
        <p:nvSpPr>
          <p:cNvPr id="9" name="Card"/>
          <p:cNvSpPr/>
          <p:nvPr/>
        </p:nvSpPr>
        <p:spPr>
          <a:xfrm>
            <a:off x="457200" y="2395728"/>
            <a:ext cx="3931920" cy="65836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"/>
          <p:cNvSpPr txBox="1"/>
          <p:nvPr/>
        </p:nvSpPr>
        <p:spPr>
          <a:xfrm>
            <a:off x="640080" y="2395728"/>
            <a:ext cx="3566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2B2D42"/>
                </a:solidFill>
                <a:latin typeface="Calibri"/>
              </a:rPr>
              <a:t>Seat status is tracked on paper, so double booking and errors occur</a:t>
            </a:r>
          </a:p>
        </p:txBody>
      </p:sp>
      <p:sp>
        <p:nvSpPr>
          <p:cNvPr id="11" name="Card"/>
          <p:cNvSpPr/>
          <p:nvPr/>
        </p:nvSpPr>
        <p:spPr>
          <a:xfrm>
            <a:off x="457200" y="3145536"/>
            <a:ext cx="3931920" cy="65836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"/>
          <p:cNvSpPr txBox="1"/>
          <p:nvPr/>
        </p:nvSpPr>
        <p:spPr>
          <a:xfrm>
            <a:off x="640080" y="3145536"/>
            <a:ext cx="3566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2B2D42"/>
                </a:solidFill>
                <a:latin typeface="Calibri"/>
              </a:rPr>
              <a:t>Cancelling a ticket and updating seat availability is difficult</a:t>
            </a:r>
          </a:p>
        </p:txBody>
      </p:sp>
      <p:sp>
        <p:nvSpPr>
          <p:cNvPr id="13" name="Card"/>
          <p:cNvSpPr/>
          <p:nvPr/>
        </p:nvSpPr>
        <p:spPr>
          <a:xfrm>
            <a:off x="457200" y="3895344"/>
            <a:ext cx="3931920" cy="65836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"/>
          <p:cNvSpPr txBox="1"/>
          <p:nvPr/>
        </p:nvSpPr>
        <p:spPr>
          <a:xfrm>
            <a:off x="640080" y="3895344"/>
            <a:ext cx="3566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2B2D42"/>
                </a:solidFill>
                <a:latin typeface="Calibri"/>
              </a:rPr>
              <a:t>Need a simple system that shows live seat status and prevents double booking</a:t>
            </a:r>
          </a:p>
        </p:txBody>
      </p:sp>
      <p:sp>
        <p:nvSpPr>
          <p:cNvPr id="15" name="Section pill"/>
          <p:cNvSpPr/>
          <p:nvPr/>
        </p:nvSpPr>
        <p:spPr>
          <a:xfrm>
            <a:off x="4754880" y="1143000"/>
            <a:ext cx="2752344" cy="36576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"/>
          <p:cNvSpPr txBox="1"/>
          <p:nvPr/>
        </p:nvSpPr>
        <p:spPr>
          <a:xfrm>
            <a:off x="4754880" y="1143000"/>
            <a:ext cx="275234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1B1B2F"/>
                </a:solidFill>
                <a:latin typeface="Trebuchet MS"/>
              </a:rPr>
              <a:t>Existing System</a:t>
            </a:r>
          </a:p>
        </p:txBody>
      </p:sp>
      <p:sp>
        <p:nvSpPr>
          <p:cNvPr id="17" name="Card"/>
          <p:cNvSpPr/>
          <p:nvPr/>
        </p:nvSpPr>
        <p:spPr>
          <a:xfrm>
            <a:off x="4754880" y="1645920"/>
            <a:ext cx="3931920" cy="65836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"/>
          <p:cNvSpPr txBox="1"/>
          <p:nvPr/>
        </p:nvSpPr>
        <p:spPr>
          <a:xfrm>
            <a:off x="4937760" y="1645920"/>
            <a:ext cx="3566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2B2D42"/>
                </a:solidFill>
                <a:latin typeface="Calibri"/>
              </a:rPr>
              <a:t>Tickets issued manually at counters or through agents</a:t>
            </a:r>
          </a:p>
        </p:txBody>
      </p:sp>
      <p:sp>
        <p:nvSpPr>
          <p:cNvPr id="19" name="Card"/>
          <p:cNvSpPr/>
          <p:nvPr/>
        </p:nvSpPr>
        <p:spPr>
          <a:xfrm>
            <a:off x="4754880" y="2395728"/>
            <a:ext cx="3931920" cy="65836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"/>
          <p:cNvSpPr txBox="1"/>
          <p:nvPr/>
        </p:nvSpPr>
        <p:spPr>
          <a:xfrm>
            <a:off x="4937760" y="2395728"/>
            <a:ext cx="3566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2B2D42"/>
                </a:solidFill>
                <a:latin typeface="Calibri"/>
              </a:rPr>
              <a:t>Seat records kept in registers, hard to check and update</a:t>
            </a:r>
          </a:p>
        </p:txBody>
      </p:sp>
      <p:sp>
        <p:nvSpPr>
          <p:cNvPr id="21" name="Card"/>
          <p:cNvSpPr/>
          <p:nvPr/>
        </p:nvSpPr>
        <p:spPr>
          <a:xfrm>
            <a:off x="4754880" y="3145536"/>
            <a:ext cx="3931920" cy="65836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"/>
          <p:cNvSpPr txBox="1"/>
          <p:nvPr/>
        </p:nvSpPr>
        <p:spPr>
          <a:xfrm>
            <a:off x="4937760" y="3145536"/>
            <a:ext cx="3566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2B2D42"/>
                </a:solidFill>
                <a:latin typeface="Calibri"/>
              </a:rPr>
              <a:t>Human errors, delays and no instant seat availability</a:t>
            </a:r>
          </a:p>
        </p:txBody>
      </p:sp>
      <p:sp>
        <p:nvSpPr>
          <p:cNvPr id="23" name="Card"/>
          <p:cNvSpPr/>
          <p:nvPr/>
        </p:nvSpPr>
        <p:spPr>
          <a:xfrm>
            <a:off x="4754880" y="3895344"/>
            <a:ext cx="3931920" cy="65836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"/>
          <p:cNvSpPr txBox="1"/>
          <p:nvPr/>
        </p:nvSpPr>
        <p:spPr>
          <a:xfrm>
            <a:off x="4937760" y="3895344"/>
            <a:ext cx="3566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2B2D42"/>
                </a:solidFill>
                <a:latin typeface="Calibri"/>
              </a:rPr>
              <a:t>Cancellation needs manual correction of records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0" cy="54864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1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Objectives &amp; Proposed System</a:t>
            </a:r>
            <a:endParaRPr lang="en-US" sz="2600" dirty="0"/>
          </a:p>
        </p:txBody>
      </p:sp>
      <p:sp>
        <p:nvSpPr>
          <p:cNvPr id="5" name="Section pill"/>
          <p:cNvSpPr/>
          <p:nvPr/>
        </p:nvSpPr>
        <p:spPr>
          <a:xfrm>
            <a:off x="457200" y="1143000"/>
            <a:ext cx="2752344" cy="36576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"/>
          <p:cNvSpPr txBox="1"/>
          <p:nvPr/>
        </p:nvSpPr>
        <p:spPr>
          <a:xfrm>
            <a:off x="457200" y="1143000"/>
            <a:ext cx="275234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1B1B2F"/>
                </a:solidFill>
                <a:latin typeface="Trebuchet MS"/>
              </a:rPr>
              <a:t>Objectives</a:t>
            </a:r>
          </a:p>
        </p:txBody>
      </p:sp>
      <p:sp>
        <p:nvSpPr>
          <p:cNvPr id="7" name="Card"/>
          <p:cNvSpPr/>
          <p:nvPr/>
        </p:nvSpPr>
        <p:spPr>
          <a:xfrm>
            <a:off x="457200" y="1645920"/>
            <a:ext cx="3931920" cy="5029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"/>
          <p:cNvSpPr txBox="1"/>
          <p:nvPr/>
        </p:nvSpPr>
        <p:spPr>
          <a:xfrm>
            <a:off x="640080" y="1645920"/>
            <a:ext cx="35661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2B2D42"/>
                </a:solidFill>
                <a:latin typeface="Calibri"/>
              </a:rPr>
              <a:t>Search bus details: name, source, destination and date</a:t>
            </a:r>
          </a:p>
        </p:txBody>
      </p:sp>
      <p:sp>
        <p:nvSpPr>
          <p:cNvPr id="9" name="Card"/>
          <p:cNvSpPr/>
          <p:nvPr/>
        </p:nvSpPr>
        <p:spPr>
          <a:xfrm>
            <a:off x="457200" y="2221992"/>
            <a:ext cx="3931920" cy="5029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"/>
          <p:cNvSpPr txBox="1"/>
          <p:nvPr/>
        </p:nvSpPr>
        <p:spPr>
          <a:xfrm>
            <a:off x="640080" y="2221992"/>
            <a:ext cx="35661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2B2D42"/>
                </a:solidFill>
                <a:latin typeface="Calibri"/>
              </a:rPr>
              <a:t>Show the seat map with AVAILABLE and BOOKED status</a:t>
            </a:r>
          </a:p>
        </p:txBody>
      </p:sp>
      <p:sp>
        <p:nvSpPr>
          <p:cNvPr id="11" name="Card"/>
          <p:cNvSpPr/>
          <p:nvPr/>
        </p:nvSpPr>
        <p:spPr>
          <a:xfrm>
            <a:off x="457200" y="2798064"/>
            <a:ext cx="3931920" cy="5029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"/>
          <p:cNvSpPr txBox="1"/>
          <p:nvPr/>
        </p:nvSpPr>
        <p:spPr>
          <a:xfrm>
            <a:off x="640080" y="2798064"/>
            <a:ext cx="35661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2B2D42"/>
                </a:solidFill>
                <a:latin typeface="Calibri"/>
              </a:rPr>
              <a:t>Book a seat and block the same seat from being booked twice</a:t>
            </a:r>
          </a:p>
        </p:txBody>
      </p:sp>
      <p:sp>
        <p:nvSpPr>
          <p:cNvPr id="13" name="Card"/>
          <p:cNvSpPr/>
          <p:nvPr/>
        </p:nvSpPr>
        <p:spPr>
          <a:xfrm>
            <a:off x="457200" y="3374136"/>
            <a:ext cx="3931920" cy="5029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"/>
          <p:cNvSpPr txBox="1"/>
          <p:nvPr/>
        </p:nvSpPr>
        <p:spPr>
          <a:xfrm>
            <a:off x="640080" y="3374136"/>
            <a:ext cx="35661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2B2D42"/>
                </a:solidFill>
                <a:latin typeface="Calibri"/>
              </a:rPr>
              <a:t>Cancel a reservation and free the seat</a:t>
            </a:r>
          </a:p>
        </p:txBody>
      </p:sp>
      <p:sp>
        <p:nvSpPr>
          <p:cNvPr id="15" name="Card"/>
          <p:cNvSpPr/>
          <p:nvPr/>
        </p:nvSpPr>
        <p:spPr>
          <a:xfrm>
            <a:off x="457200" y="3950208"/>
            <a:ext cx="3931920" cy="5029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"/>
          <p:cNvSpPr txBox="1"/>
          <p:nvPr/>
        </p:nvSpPr>
        <p:spPr>
          <a:xfrm>
            <a:off x="640080" y="3950208"/>
            <a:ext cx="35661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2B2D42"/>
                </a:solidFill>
                <a:latin typeface="Calibri"/>
              </a:rPr>
              <a:t>Validate input and implement everything in Java</a:t>
            </a:r>
          </a:p>
        </p:txBody>
      </p:sp>
      <p:sp>
        <p:nvSpPr>
          <p:cNvPr id="17" name="Section pill"/>
          <p:cNvSpPr/>
          <p:nvPr/>
        </p:nvSpPr>
        <p:spPr>
          <a:xfrm>
            <a:off x="4754880" y="1143000"/>
            <a:ext cx="2752344" cy="36576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"/>
          <p:cNvSpPr txBox="1"/>
          <p:nvPr/>
        </p:nvSpPr>
        <p:spPr>
          <a:xfrm>
            <a:off x="4754880" y="1143000"/>
            <a:ext cx="275234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1B1B2F"/>
                </a:solidFill>
                <a:latin typeface="Trebuchet MS"/>
              </a:rPr>
              <a:t>Proposed System</a:t>
            </a:r>
          </a:p>
        </p:txBody>
      </p:sp>
      <p:sp>
        <p:nvSpPr>
          <p:cNvPr id="19" name="Card"/>
          <p:cNvSpPr/>
          <p:nvPr/>
        </p:nvSpPr>
        <p:spPr>
          <a:xfrm>
            <a:off x="4754880" y="1645920"/>
            <a:ext cx="3931920" cy="65836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"/>
          <p:cNvSpPr txBox="1"/>
          <p:nvPr/>
        </p:nvSpPr>
        <p:spPr>
          <a:xfrm>
            <a:off x="4937760" y="1645920"/>
            <a:ext cx="3566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2B2D42"/>
                </a:solidFill>
                <a:latin typeface="Calibri"/>
              </a:rPr>
              <a:t>Menu-driven Java application with six options in a loop</a:t>
            </a:r>
          </a:p>
        </p:txBody>
      </p:sp>
      <p:sp>
        <p:nvSpPr>
          <p:cNvPr id="21" name="Card"/>
          <p:cNvSpPr/>
          <p:nvPr/>
        </p:nvSpPr>
        <p:spPr>
          <a:xfrm>
            <a:off x="4754880" y="2395728"/>
            <a:ext cx="3931920" cy="65836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"/>
          <p:cNvSpPr txBox="1"/>
          <p:nvPr/>
        </p:nvSpPr>
        <p:spPr>
          <a:xfrm>
            <a:off x="4937760" y="2395728"/>
            <a:ext cx="3566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2B2D42"/>
                </a:solidFill>
                <a:latin typeface="Calibri"/>
              </a:rPr>
              <a:t>A boolean array stores the status of all 10 seats</a:t>
            </a:r>
          </a:p>
        </p:txBody>
      </p:sp>
      <p:sp>
        <p:nvSpPr>
          <p:cNvPr id="23" name="Card"/>
          <p:cNvSpPr/>
          <p:nvPr/>
        </p:nvSpPr>
        <p:spPr>
          <a:xfrm>
            <a:off x="4754880" y="3145536"/>
            <a:ext cx="3931920" cy="65836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"/>
          <p:cNvSpPr txBox="1"/>
          <p:nvPr/>
        </p:nvSpPr>
        <p:spPr>
          <a:xfrm>
            <a:off x="4937760" y="3145536"/>
            <a:ext cx="3566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2B2D42"/>
                </a:solidFill>
                <a:latin typeface="Calibri"/>
              </a:rPr>
              <a:t>Control statements (while, switch, for, if-else) drive the booking logic</a:t>
            </a:r>
          </a:p>
        </p:txBody>
      </p:sp>
      <p:sp>
        <p:nvSpPr>
          <p:cNvPr id="25" name="Card"/>
          <p:cNvSpPr/>
          <p:nvPr/>
        </p:nvSpPr>
        <p:spPr>
          <a:xfrm>
            <a:off x="4754880" y="3895344"/>
            <a:ext cx="3931920" cy="65836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"/>
          <p:cNvSpPr txBox="1"/>
          <p:nvPr/>
        </p:nvSpPr>
        <p:spPr>
          <a:xfrm>
            <a:off x="4937760" y="3895344"/>
            <a:ext cx="3566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2B2D42"/>
                </a:solidFill>
                <a:latin typeface="Calibri"/>
              </a:rPr>
              <a:t>Instant messages for success, already booked, invalid seat and invalid choice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0" cy="54864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1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&amp; Functionalities</a:t>
            </a:r>
            <a:endParaRPr lang="en-US" sz="2600" dirty="0"/>
          </a:p>
        </p:txBody>
      </p:sp>
      <p:sp>
        <p:nvSpPr>
          <p:cNvPr id="5" name="Flow box"/>
          <p:cNvSpPr/>
          <p:nvPr/>
        </p:nvSpPr>
        <p:spPr>
          <a:xfrm>
            <a:off x="502920" y="1097280"/>
            <a:ext cx="1691640" cy="960120"/>
          </a:xfrm>
          <a:prstGeom prst="roundRect">
            <a:avLst>
              <a:gd name="adj" fmla="val 6250"/>
            </a:avLst>
          </a:prstGeom>
          <a:solidFill>
            <a:srgbClr val="1B1B2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"/>
          <p:cNvSpPr txBox="1"/>
          <p:nvPr/>
        </p:nvSpPr>
        <p:spPr>
          <a:xfrm>
            <a:off x="502920" y="1097280"/>
            <a:ext cx="169164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User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Console input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(Scanner)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2194560" y="1097280"/>
            <a:ext cx="45720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>
                <a:solidFill>
                  <a:srgbClr val="2B2D42"/>
                </a:solidFill>
                <a:latin typeface="Calibri"/>
              </a:rPr>
              <a:t>→</a:t>
            </a:r>
          </a:p>
        </p:txBody>
      </p:sp>
      <p:sp>
        <p:nvSpPr>
          <p:cNvPr id="8" name="Flow box"/>
          <p:cNvSpPr/>
          <p:nvPr/>
        </p:nvSpPr>
        <p:spPr>
          <a:xfrm>
            <a:off x="2651760" y="1097280"/>
            <a:ext cx="1691640" cy="960120"/>
          </a:xfrm>
          <a:prstGeom prst="roundRect">
            <a:avLst>
              <a:gd name="adj" fmla="val 6250"/>
            </a:avLst>
          </a:prstGeom>
          <a:solidFill>
            <a:srgbClr val="F5A62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"/>
          <p:cNvSpPr txBox="1"/>
          <p:nvPr/>
        </p:nvSpPr>
        <p:spPr>
          <a:xfrm>
            <a:off x="2651760" y="1097280"/>
            <a:ext cx="169164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1B1B2F"/>
                </a:solidFill>
                <a:latin typeface="Calibri"/>
              </a:rPr>
              <a:t>Menu Loop</a:t>
            </a:r>
          </a:p>
          <a:p>
            <a:pPr algn="ctr"/>
            <a:r>
              <a:rPr sz="1050" b="0">
                <a:solidFill>
                  <a:srgbClr val="1B1B2F"/>
                </a:solidFill>
                <a:latin typeface="Calibri"/>
              </a:rPr>
              <a:t>while(true) +</a:t>
            </a:r>
          </a:p>
          <a:p>
            <a:pPr algn="ctr"/>
            <a:r>
              <a:rPr sz="1050" b="0">
                <a:solidFill>
                  <a:srgbClr val="1B1B2F"/>
                </a:solidFill>
                <a:latin typeface="Calibri"/>
              </a:rPr>
              <a:t>switch(choice)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4343400" y="1097280"/>
            <a:ext cx="45720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>
                <a:solidFill>
                  <a:srgbClr val="2B2D42"/>
                </a:solidFill>
                <a:latin typeface="Calibri"/>
              </a:rPr>
              <a:t>→</a:t>
            </a:r>
          </a:p>
        </p:txBody>
      </p:sp>
      <p:sp>
        <p:nvSpPr>
          <p:cNvPr id="11" name="Flow box"/>
          <p:cNvSpPr/>
          <p:nvPr/>
        </p:nvSpPr>
        <p:spPr>
          <a:xfrm>
            <a:off x="4800600" y="1097280"/>
            <a:ext cx="1691640" cy="960120"/>
          </a:xfrm>
          <a:prstGeom prst="roundRect">
            <a:avLst>
              <a:gd name="adj" fmla="val 6250"/>
            </a:avLst>
          </a:prstGeom>
          <a:solidFill>
            <a:srgbClr val="1B1B2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"/>
          <p:cNvSpPr txBox="1"/>
          <p:nvPr/>
        </p:nvSpPr>
        <p:spPr>
          <a:xfrm>
            <a:off x="4800600" y="1097280"/>
            <a:ext cx="169164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Operations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Search, Route, Book,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Cancel, Seat Map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6492240" y="1097280"/>
            <a:ext cx="45720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>
                <a:solidFill>
                  <a:srgbClr val="2B2D42"/>
                </a:solidFill>
                <a:latin typeface="Calibri"/>
              </a:rPr>
              <a:t>→</a:t>
            </a:r>
          </a:p>
        </p:txBody>
      </p:sp>
      <p:sp>
        <p:nvSpPr>
          <p:cNvPr id="14" name="Flow box"/>
          <p:cNvSpPr/>
          <p:nvPr/>
        </p:nvSpPr>
        <p:spPr>
          <a:xfrm>
            <a:off x="6949440" y="1097280"/>
            <a:ext cx="1691640" cy="960120"/>
          </a:xfrm>
          <a:prstGeom prst="roundRect">
            <a:avLst>
              <a:gd name="adj" fmla="val 6250"/>
            </a:avLst>
          </a:prstGeom>
          <a:solidFill>
            <a:srgbClr val="F5A62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"/>
          <p:cNvSpPr txBox="1"/>
          <p:nvPr/>
        </p:nvSpPr>
        <p:spPr>
          <a:xfrm>
            <a:off x="6949440" y="1097280"/>
            <a:ext cx="169164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1B1B2F"/>
                </a:solidFill>
                <a:latin typeface="Calibri"/>
              </a:rPr>
              <a:t>Seat Data</a:t>
            </a:r>
          </a:p>
          <a:p>
            <a:pPr algn="ctr"/>
            <a:r>
              <a:rPr sz="1050" b="0">
                <a:solidFill>
                  <a:srgbClr val="1B1B2F"/>
                </a:solidFill>
                <a:latin typeface="Calibri"/>
              </a:rPr>
              <a:t>boolean[10] seats</a:t>
            </a:r>
          </a:p>
          <a:p>
            <a:pPr algn="ctr"/>
            <a:r>
              <a:rPr sz="1050" b="0">
                <a:solidFill>
                  <a:srgbClr val="1B1B2F"/>
                </a:solidFill>
                <a:latin typeface="Calibri"/>
              </a:rPr>
              <a:t>+ bus details</a:t>
            </a:r>
          </a:p>
        </p:txBody>
      </p:sp>
      <p:sp>
        <p:nvSpPr>
          <p:cNvPr id="16" name="Function card"/>
          <p:cNvSpPr/>
          <p:nvPr/>
        </p:nvSpPr>
        <p:spPr>
          <a:xfrm>
            <a:off x="502920" y="2377440"/>
            <a:ext cx="2606040" cy="7315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"/>
          <p:cNvSpPr txBox="1"/>
          <p:nvPr/>
        </p:nvSpPr>
        <p:spPr>
          <a:xfrm>
            <a:off x="640080" y="2377440"/>
            <a:ext cx="233172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1B1B2F"/>
                </a:solidFill>
                <a:latin typeface="Calibri"/>
              </a:rPr>
              <a:t>1. Search Bus</a:t>
            </a:r>
          </a:p>
          <a:p>
            <a:pPr algn="l"/>
            <a:r>
              <a:rPr sz="1100" b="0">
                <a:solidFill>
                  <a:srgbClr val="2B2D42"/>
                </a:solidFill>
                <a:latin typeface="Calibri"/>
              </a:rPr>
              <a:t>Shows bus name, route and date</a:t>
            </a:r>
          </a:p>
        </p:txBody>
      </p:sp>
      <p:sp>
        <p:nvSpPr>
          <p:cNvPr id="18" name="Function card"/>
          <p:cNvSpPr/>
          <p:nvPr/>
        </p:nvSpPr>
        <p:spPr>
          <a:xfrm>
            <a:off x="3246120" y="2377440"/>
            <a:ext cx="2606040" cy="7315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"/>
          <p:cNvSpPr txBox="1"/>
          <p:nvPr/>
        </p:nvSpPr>
        <p:spPr>
          <a:xfrm>
            <a:off x="3383279" y="2377440"/>
            <a:ext cx="233172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1B1B2F"/>
                </a:solidFill>
                <a:latin typeface="Calibri"/>
              </a:rPr>
              <a:t>2. Choose Route/Date</a:t>
            </a:r>
          </a:p>
          <a:p>
            <a:pPr algn="l"/>
            <a:r>
              <a:rPr sz="1100" b="0">
                <a:solidFill>
                  <a:srgbClr val="2B2D42"/>
                </a:solidFill>
                <a:latin typeface="Calibri"/>
              </a:rPr>
              <a:t>Displays selected route details</a:t>
            </a:r>
          </a:p>
        </p:txBody>
      </p:sp>
      <p:sp>
        <p:nvSpPr>
          <p:cNvPr id="20" name="Function card"/>
          <p:cNvSpPr/>
          <p:nvPr/>
        </p:nvSpPr>
        <p:spPr>
          <a:xfrm>
            <a:off x="5989320" y="2377440"/>
            <a:ext cx="2606040" cy="7315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"/>
          <p:cNvSpPr txBox="1"/>
          <p:nvPr/>
        </p:nvSpPr>
        <p:spPr>
          <a:xfrm>
            <a:off x="6126480" y="2377440"/>
            <a:ext cx="233172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1B1B2F"/>
                </a:solidFill>
                <a:latin typeface="Calibri"/>
              </a:rPr>
              <a:t>3. Book Seat</a:t>
            </a:r>
          </a:p>
          <a:p>
            <a:pPr algn="l"/>
            <a:r>
              <a:rPr sz="1100" b="0">
                <a:solidFill>
                  <a:srgbClr val="2B2D42"/>
                </a:solidFill>
                <a:latin typeface="Calibri"/>
              </a:rPr>
              <a:t>Shows seat map, books seats 1-10</a:t>
            </a:r>
          </a:p>
        </p:txBody>
      </p:sp>
      <p:sp>
        <p:nvSpPr>
          <p:cNvPr id="22" name="Function card"/>
          <p:cNvSpPr/>
          <p:nvPr/>
        </p:nvSpPr>
        <p:spPr>
          <a:xfrm>
            <a:off x="502920" y="3246120"/>
            <a:ext cx="2606040" cy="7315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"/>
          <p:cNvSpPr txBox="1"/>
          <p:nvPr/>
        </p:nvSpPr>
        <p:spPr>
          <a:xfrm>
            <a:off x="640080" y="3246120"/>
            <a:ext cx="233172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1B1B2F"/>
                </a:solidFill>
                <a:latin typeface="Calibri"/>
              </a:rPr>
              <a:t>4. Cancel Reservation</a:t>
            </a:r>
          </a:p>
          <a:p>
            <a:pPr algn="l"/>
            <a:r>
              <a:rPr sz="1100" b="0">
                <a:solidFill>
                  <a:srgbClr val="2B2D42"/>
                </a:solidFill>
                <a:latin typeface="Calibri"/>
              </a:rPr>
              <a:t>Frees a booked seat</a:t>
            </a:r>
          </a:p>
        </p:txBody>
      </p:sp>
      <p:sp>
        <p:nvSpPr>
          <p:cNvPr id="24" name="Function card"/>
          <p:cNvSpPr/>
          <p:nvPr/>
        </p:nvSpPr>
        <p:spPr>
          <a:xfrm>
            <a:off x="3246120" y="3246120"/>
            <a:ext cx="2606040" cy="7315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"/>
          <p:cNvSpPr txBox="1"/>
          <p:nvPr/>
        </p:nvSpPr>
        <p:spPr>
          <a:xfrm>
            <a:off x="3383279" y="3246120"/>
            <a:ext cx="233172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1B1B2F"/>
                </a:solidFill>
                <a:latin typeface="Calibri"/>
              </a:rPr>
              <a:t>5. View Seat Map</a:t>
            </a:r>
          </a:p>
          <a:p>
            <a:pPr algn="l"/>
            <a:r>
              <a:rPr sz="1100" b="0">
                <a:solidFill>
                  <a:srgbClr val="2B2D42"/>
                </a:solidFill>
                <a:latin typeface="Calibri"/>
              </a:rPr>
              <a:t>AVAILABLE / BOOKED status</a:t>
            </a:r>
          </a:p>
        </p:txBody>
      </p:sp>
      <p:sp>
        <p:nvSpPr>
          <p:cNvPr id="26" name="Function card"/>
          <p:cNvSpPr/>
          <p:nvPr/>
        </p:nvSpPr>
        <p:spPr>
          <a:xfrm>
            <a:off x="5989320" y="3246120"/>
            <a:ext cx="2606040" cy="7315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"/>
          <p:cNvSpPr txBox="1"/>
          <p:nvPr/>
        </p:nvSpPr>
        <p:spPr>
          <a:xfrm>
            <a:off x="6126480" y="3246120"/>
            <a:ext cx="233172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1B1B2F"/>
                </a:solidFill>
                <a:latin typeface="Calibri"/>
              </a:rPr>
              <a:t>6. Exit</a:t>
            </a:r>
          </a:p>
          <a:p>
            <a:pPr algn="l"/>
            <a:r>
              <a:rPr sz="1100" b="0">
                <a:solidFill>
                  <a:srgbClr val="2B2D42"/>
                </a:solidFill>
                <a:latin typeface="Calibri"/>
              </a:rPr>
              <a:t>Ends the program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502920" y="4206240"/>
            <a:ext cx="81381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rgbClr val="2B2D42"/>
                </a:solidFill>
                <a:latin typeface="Calibri"/>
              </a:rPr>
              <a:t>Output is displayed on the console after every operation and the menu repeats until Exit.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0" cy="54864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1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Implementation - Java Code (1/5)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3749040"/>
          </a:xfrm>
          <a:prstGeom prst="roundRect">
            <a:avLst>
              <a:gd name="adj" fmla="val 1463"/>
            </a:avLst>
          </a:prstGeom>
          <a:solidFill>
            <a:srgbClr val="12121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640080" y="118872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java.util.Scanner;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BusResevation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static void main(String[] args)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Scanner sc = new Scanner(System.in);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Bus details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String busName = "Express Travels";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String from = "Hyderabad";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String to = "Vijayawada";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String date = "25-08-2026";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Seat status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boolean[] seats = new boolean[10];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int choice;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while loop - continue reservation process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while (true)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System.out.println("\n===== INTERCITY BUS RESERVATION SYSTEM =====");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System.out.println("1. Search Bus");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System.out.println("2. Choose Route/Date");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System.out.println("3. Book Seat");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System.out.println("4. Cancel Reservation");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System.out.println("5. View Seat Map");
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0" cy="54864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1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Implementation - Java Code (2/5)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3749040"/>
          </a:xfrm>
          <a:prstGeom prst="roundRect">
            <a:avLst>
              <a:gd name="adj" fmla="val 1463"/>
            </a:avLst>
          </a:prstGeom>
          <a:solidFill>
            <a:srgbClr val="12121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640080" y="118872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System.out.println("6. Exit");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System.out.print("Enter your choice: 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choice = sc.nextInt();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// switch - booking menu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switch (choice)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case 1: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System.out.println("\n----- SEARCH BUS -----");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System.out.println("Bus Name : " + busName);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System.out.println("From     : " + from);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System.out.println("To       : " + to);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System.out.println("Date     : " + date);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System.out.println("Bus Found Successfully!");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break;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case 2: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System.out.println("\n----- ROUTE DETAILS -----");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System.out.println("From : " + from);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System.out.println("To   : " + to);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System.out.println("Date : " + date);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System.out.println("Route Selected Successfully!");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break;
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0" cy="54864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1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Implementation - Java Code (3/5)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3749040"/>
          </a:xfrm>
          <a:prstGeom prst="roundRect">
            <a:avLst>
              <a:gd name="adj" fmla="val 1463"/>
            </a:avLst>
          </a:prstGeom>
          <a:solidFill>
            <a:srgbClr val="12121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640080" y="118872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case 3: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System.out.println("\n----- BOOK SEAT -----");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// for loop - display seat map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for (int i = 0; i &lt; seats.length; i++)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if (seats[i])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System.out.println("Seat " + (i + 1) + " : BOOKED");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} else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System.out.println("Seat " + (i + 1) + " : AVAILABLE");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System.out.print("Enter seat number to book (1-10): 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int seatNumber = sc.nextInt();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if (seatNumber &gt;= 1 &amp;&amp; seatNumber &lt;= 10)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// if-else - check seat availability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if (!seats[seatNumber - 1])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seats[seatNumber - 1] = true;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System.out.println("Seat " + seatNumber + " booked successfully!");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} else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System.out.println("Sorry! Seat " + seatNumber + " is already booked.");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}
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0" cy="54864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1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Implementation - Java Code (4/5)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3749040"/>
          </a:xfrm>
          <a:prstGeom prst="roundRect">
            <a:avLst>
              <a:gd name="adj" fmla="val 1463"/>
            </a:avLst>
          </a:prstGeom>
          <a:solidFill>
            <a:srgbClr val="12121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640080" y="118872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} else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System.out.println("Invalid seat number!");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break;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case 4: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System.out.println("\n----- CANCEL RESERVATION -----");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System.out.print("Enter seat number to cancel (1-10): 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int cancelSeat = sc.nextInt();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if (cancelSeat &gt;= 1 &amp;&amp; cancelSeat &lt;= 10)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if (seats[cancelSeat - 1])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seats[cancelSeat - 1] = false;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System.out.println("Reservation cancelled successfully!");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} else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System.out.println("This seat is not booked.");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} else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System.out.println("Invalid seat number!");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break;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case 5:
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0" cy="54864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1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Implementation - Java Code (5/5)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3749040"/>
          </a:xfrm>
          <a:prstGeom prst="roundRect">
            <a:avLst>
              <a:gd name="adj" fmla="val 1463"/>
            </a:avLst>
          </a:prstGeom>
          <a:solidFill>
            <a:srgbClr val="12121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640080" y="118872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System.out.println("\n----- SEAT MAP -----");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// for loop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for (int i = 0; i &lt; seats.length; i++)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if (seats[i])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System.out.println("Seat " + (i + 1) + " : BOOKED");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} else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System.out.println("Seat " + (i + 1) + " : AVAILABLE");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break;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case 6: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System.out.println("\nThank you for using the Bus Reservation System!");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sc.close();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return;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default: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System.out.println("Invalid choice! Please try again.");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0" cy="54864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1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229600" cy="3611880"/>
          </a:xfrm>
          <a:prstGeom prst="roundRect">
            <a:avLst>
              <a:gd name="adj" fmla="val 1519"/>
            </a:avLst>
          </a:prstGeom>
          <a:solidFill>
            <a:srgbClr val="12121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640080" y="1371600"/>
            <a:ext cx="786384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 INTERCITY BUS RESERVATION SYSTEM =====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Search Bus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Choose Route/Date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Book Seat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Cancel Reservation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View Seat Map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Exit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your choice: 1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----- SEARCH BUS -----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 Name : Express Travels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    : Hyderabad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       : Vijayawada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     : 25-08-2026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 Found Successfully!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your choice: 2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----- ROUTE DETAILS -----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: Hyderabad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   : Vijayawada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 : 25-08-2026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 Selected Successfully!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your choice: 6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Thank you for using the Bus Reservation System!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0" cy="54864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1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229600" cy="3611880"/>
          </a:xfrm>
          <a:prstGeom prst="roundRect">
            <a:avLst>
              <a:gd name="adj" fmla="val 1519"/>
            </a:avLst>
          </a:prstGeom>
          <a:solidFill>
            <a:srgbClr val="12121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640080" y="1371600"/>
            <a:ext cx="786384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 INTERCITY BUS RESERVATION SYSTEM =====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Search Bus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Choose Route/Date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Book Seat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Cancel Reservation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View Seat Map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Exit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your choice: 4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----- CANCEL RESERVATION -----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seat number to cancel (1-10): 4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 seat is not booked.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your choice: 4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----- CANCEL RESERVATION -----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seat number to cancel (1-10): 11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Invalid seat number!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your choice: 5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----- SEAT MAP -----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Seat 1 : AVAILABLE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Seat 2 : AVAILABLE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Seat 3 : AVAILABLE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Seat 4 : AVAILABLE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Seat 5 : AVAILABLE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Seat 6 : AVAILABLE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Seat 7 : AVAILABLE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Seat 8 : AVAILABLE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Seat 9 : AVAILABLE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Seat 10 : AVAILABLE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your choice: 6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Thank you for using the Bus Reservation System!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0" cy="54864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1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Scope &amp; Conclusion</a:t>
            </a:r>
            <a:endParaRPr lang="en-US" sz="2600" dirty="0"/>
          </a:p>
        </p:txBody>
      </p:sp>
      <p:sp>
        <p:nvSpPr>
          <p:cNvPr id="5" name="Section pill"/>
          <p:cNvSpPr/>
          <p:nvPr/>
        </p:nvSpPr>
        <p:spPr>
          <a:xfrm>
            <a:off x="457200" y="1143000"/>
            <a:ext cx="2752344" cy="36576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"/>
          <p:cNvSpPr txBox="1"/>
          <p:nvPr/>
        </p:nvSpPr>
        <p:spPr>
          <a:xfrm>
            <a:off x="457200" y="1143000"/>
            <a:ext cx="275234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1B1B2F"/>
                </a:solidFill>
                <a:latin typeface="Trebuchet MS"/>
              </a:rPr>
              <a:t>Future Scope</a:t>
            </a:r>
          </a:p>
        </p:txBody>
      </p:sp>
      <p:sp>
        <p:nvSpPr>
          <p:cNvPr id="7" name="Card"/>
          <p:cNvSpPr/>
          <p:nvPr/>
        </p:nvSpPr>
        <p:spPr>
          <a:xfrm>
            <a:off x="457200" y="1645920"/>
            <a:ext cx="3931920" cy="65836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"/>
          <p:cNvSpPr txBox="1"/>
          <p:nvPr/>
        </p:nvSpPr>
        <p:spPr>
          <a:xfrm>
            <a:off x="640080" y="1645920"/>
            <a:ext cx="3566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2B2D42"/>
                </a:solidFill>
                <a:latin typeface="Calibri"/>
              </a:rPr>
              <a:t>Store buses, users and bookings in a database (JDBC / MySQL)</a:t>
            </a:r>
          </a:p>
        </p:txBody>
      </p:sp>
      <p:sp>
        <p:nvSpPr>
          <p:cNvPr id="9" name="Card"/>
          <p:cNvSpPr/>
          <p:nvPr/>
        </p:nvSpPr>
        <p:spPr>
          <a:xfrm>
            <a:off x="457200" y="2395728"/>
            <a:ext cx="3931920" cy="65836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"/>
          <p:cNvSpPr txBox="1"/>
          <p:nvPr/>
        </p:nvSpPr>
        <p:spPr>
          <a:xfrm>
            <a:off x="640080" y="2395728"/>
            <a:ext cx="3566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2B2D42"/>
                </a:solidFill>
                <a:latin typeface="Calibri"/>
              </a:rPr>
              <a:t>Support multiple buses, routes, dates and fares</a:t>
            </a:r>
          </a:p>
        </p:txBody>
      </p:sp>
      <p:sp>
        <p:nvSpPr>
          <p:cNvPr id="11" name="Card"/>
          <p:cNvSpPr/>
          <p:nvPr/>
        </p:nvSpPr>
        <p:spPr>
          <a:xfrm>
            <a:off x="457200" y="3145536"/>
            <a:ext cx="3931920" cy="65836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"/>
          <p:cNvSpPr txBox="1"/>
          <p:nvPr/>
        </p:nvSpPr>
        <p:spPr>
          <a:xfrm>
            <a:off x="640080" y="3145536"/>
            <a:ext cx="3566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2B2D42"/>
                </a:solidFill>
                <a:latin typeface="Calibri"/>
              </a:rPr>
              <a:t>Add user login, passenger details and ticket printing</a:t>
            </a:r>
          </a:p>
        </p:txBody>
      </p:sp>
      <p:sp>
        <p:nvSpPr>
          <p:cNvPr id="13" name="Card"/>
          <p:cNvSpPr/>
          <p:nvPr/>
        </p:nvSpPr>
        <p:spPr>
          <a:xfrm>
            <a:off x="457200" y="3895344"/>
            <a:ext cx="3931920" cy="65836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"/>
          <p:cNvSpPr txBox="1"/>
          <p:nvPr/>
        </p:nvSpPr>
        <p:spPr>
          <a:xfrm>
            <a:off x="640080" y="3895344"/>
            <a:ext cx="3566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2B2D42"/>
                </a:solidFill>
                <a:latin typeface="Calibri"/>
              </a:rPr>
              <a:t>Online payment, GUI or mobile app, and SMS/email confirmation</a:t>
            </a:r>
          </a:p>
        </p:txBody>
      </p:sp>
      <p:sp>
        <p:nvSpPr>
          <p:cNvPr id="15" name="Section pill"/>
          <p:cNvSpPr/>
          <p:nvPr/>
        </p:nvSpPr>
        <p:spPr>
          <a:xfrm>
            <a:off x="4754880" y="1143000"/>
            <a:ext cx="2752344" cy="36576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"/>
          <p:cNvSpPr txBox="1"/>
          <p:nvPr/>
        </p:nvSpPr>
        <p:spPr>
          <a:xfrm>
            <a:off x="4754880" y="1143000"/>
            <a:ext cx="275234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1B1B2F"/>
                </a:solidFill>
                <a:latin typeface="Trebuchet MS"/>
              </a:rPr>
              <a:t>Conclusion</a:t>
            </a:r>
          </a:p>
        </p:txBody>
      </p:sp>
      <p:sp>
        <p:nvSpPr>
          <p:cNvPr id="17" name="Card"/>
          <p:cNvSpPr/>
          <p:nvPr/>
        </p:nvSpPr>
        <p:spPr>
          <a:xfrm>
            <a:off x="4754880" y="1645920"/>
            <a:ext cx="3931920" cy="65836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"/>
          <p:cNvSpPr txBox="1"/>
          <p:nvPr/>
        </p:nvSpPr>
        <p:spPr>
          <a:xfrm>
            <a:off x="4937760" y="1645920"/>
            <a:ext cx="3566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2B2D42"/>
                </a:solidFill>
                <a:latin typeface="Calibri"/>
              </a:rPr>
              <a:t>The Java program successfully implements search, booking, cancellation and seat map</a:t>
            </a:r>
          </a:p>
        </p:txBody>
      </p:sp>
      <p:sp>
        <p:nvSpPr>
          <p:cNvPr id="19" name="Card"/>
          <p:cNvSpPr/>
          <p:nvPr/>
        </p:nvSpPr>
        <p:spPr>
          <a:xfrm>
            <a:off x="4754880" y="2395728"/>
            <a:ext cx="3931920" cy="65836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"/>
          <p:cNvSpPr txBox="1"/>
          <p:nvPr/>
        </p:nvSpPr>
        <p:spPr>
          <a:xfrm>
            <a:off x="4937760" y="2395728"/>
            <a:ext cx="3566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2B2D42"/>
                </a:solidFill>
                <a:latin typeface="Calibri"/>
              </a:rPr>
              <a:t>Loops, switch and arrays make seat management simple and error-free</a:t>
            </a:r>
          </a:p>
        </p:txBody>
      </p:sp>
      <p:sp>
        <p:nvSpPr>
          <p:cNvPr id="21" name="Card"/>
          <p:cNvSpPr/>
          <p:nvPr/>
        </p:nvSpPr>
        <p:spPr>
          <a:xfrm>
            <a:off x="4754880" y="3145536"/>
            <a:ext cx="3931920" cy="65836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"/>
          <p:cNvSpPr txBox="1"/>
          <p:nvPr/>
        </p:nvSpPr>
        <p:spPr>
          <a:xfrm>
            <a:off x="4937760" y="3145536"/>
            <a:ext cx="3566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2B2D42"/>
                </a:solidFill>
                <a:latin typeface="Calibri"/>
              </a:rPr>
              <a:t>Double booking and invalid inputs are handled with clear messages</a:t>
            </a:r>
          </a:p>
        </p:txBody>
      </p:sp>
      <p:sp>
        <p:nvSpPr>
          <p:cNvPr id="23" name="Card"/>
          <p:cNvSpPr/>
          <p:nvPr/>
        </p:nvSpPr>
        <p:spPr>
          <a:xfrm>
            <a:off x="4754880" y="3895344"/>
            <a:ext cx="3931920" cy="65836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"/>
          <p:cNvSpPr txBox="1"/>
          <p:nvPr/>
        </p:nvSpPr>
        <p:spPr>
          <a:xfrm>
            <a:off x="4937760" y="3895344"/>
            <a:ext cx="3566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2B2D42"/>
                </a:solidFill>
                <a:latin typeface="Calibri"/>
              </a:rPr>
              <a:t>It can be extended into a full database-driven reservation system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2834640"/>
            <a:ext cx="4572000" cy="4572000"/>
          </a:xfrm>
          <a:prstGeom prst="ellipse">
            <a:avLst/>
          </a:prstGeom>
          <a:solidFill>
            <a:srgbClr val="F5A623">
              <a:alpha val="1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48640" y="184023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5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1645</Words>
  <Application>Microsoft Office PowerPoint</Application>
  <PresentationFormat>On-screen Show (16:9)</PresentationFormat>
  <Paragraphs>259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 Akshitha</cp:lastModifiedBy>
  <cp:revision>3</cp:revision>
  <dcterms:created xsi:type="dcterms:W3CDTF">2026-09-29T12:34:50Z</dcterms:created>
  <dcterms:modified xsi:type="dcterms:W3CDTF">2026-10-02T05:51:24Z</dcterms:modified>
</cp:coreProperties>
</file>